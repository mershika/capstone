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60" r:id="rId2"/>
    <p:sldId id="4421" r:id="rId3"/>
    <p:sldId id="4422" r:id="rId4"/>
    <p:sldId id="4423" r:id="rId5"/>
    <p:sldId id="4424" r:id="rId6"/>
    <p:sldId id="4436" r:id="rId7"/>
    <p:sldId id="4439" r:id="rId8"/>
    <p:sldId id="4426" r:id="rId9"/>
    <p:sldId id="4427" r:id="rId10"/>
    <p:sldId id="4429" r:id="rId11"/>
    <p:sldId id="4428" r:id="rId12"/>
    <p:sldId id="4425" r:id="rId13"/>
    <p:sldId id="4430" r:id="rId14"/>
    <p:sldId id="4431" r:id="rId15"/>
    <p:sldId id="4443" r:id="rId16"/>
    <p:sldId id="4444" r:id="rId17"/>
    <p:sldId id="4445" r:id="rId18"/>
    <p:sldId id="4446" r:id="rId19"/>
    <p:sldId id="4447" r:id="rId20"/>
    <p:sldId id="4448" r:id="rId21"/>
    <p:sldId id="4449" r:id="rId22"/>
    <p:sldId id="4432" r:id="rId23"/>
    <p:sldId id="4433" r:id="rId24"/>
    <p:sldId id="4434" r:id="rId25"/>
    <p:sldId id="4435" r:id="rId26"/>
    <p:sldId id="4450" r:id="rId27"/>
    <p:sldId id="444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87CC"/>
    <a:srgbClr val="0087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8" d="100"/>
          <a:sy n="58" d="100"/>
        </p:scale>
        <p:origin x="98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83ABB-A641-41B3-815B-0BF716117969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464667-E269-4945-B7C0-AD99F8954A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1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2225B-E41B-77C0-1A23-7FE91583A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A84B7F-BF54-53DE-5ED7-2CDED8A4B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18E42-7938-EBF6-0BBB-C03E98259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4C66D-7C77-1BC2-E297-5581F607B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71FE2-01D7-8CFA-F772-2A12DADA9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976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69414-E7DE-B18D-3123-DBD0283D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AEC70-B92A-CC7C-576E-A961A566D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40CFBF-3986-2ECA-DC6E-B0EB5EEAE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622A7-D018-3314-6712-AC0A3E326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F858B-9E65-33C3-1330-DDC559B7F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14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99EF2-BE12-339C-53A6-D7F37ED5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EA9B6-8FA8-149E-9646-FB301CFB1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25791-C68A-6622-2CC5-3C0B28333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CB1C5-90B9-0823-9015-AF5F09CF9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9B8B6-BAA6-240F-60BE-518B08A68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101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E3121-A2A6-067F-9BB5-431330CD0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61458-6F42-1FC6-02A5-B26BB0448D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0A9E45-D816-7EFD-3CAA-178E16FA00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34DE17-8AF8-1452-3C2B-1E8AC11C0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04EE6-8A95-F57F-A192-3DE3AA413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7B0C8-4507-0579-A941-6A255E92B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88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D41E2-A077-4FE6-C0D3-E53AD7692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D9F13-A5D4-37A3-1493-299424981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EE514-EB19-276A-D5A5-AD3B452852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4ECFBA-4BCE-DB10-1A82-A2D64F058E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FB50E7-10C2-3309-2CDC-0F66334ED7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1554FF-26AD-988B-1BE6-17295ED2C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EB7DB9-3BFA-EEC0-380B-FF6C9131A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18BED0-2F21-3460-79B8-7290A76A4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078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70D88-D9A6-E2BA-4D07-31B2E1E8C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9C88D8-4119-A0E3-1E19-520074B60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BD6728-10D0-DD4F-070F-D8887DC40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1F0AF4-0EB8-E3C6-BC9D-0F225B0D6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91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305AF-CB28-6234-0989-07022337F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5B88D4-A6C0-E1B7-8994-A86076DAC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2BBE91-403E-73E0-6DB4-5910441B7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80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1ACB-DC8B-620D-E3BF-7FA852E0A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1B764-533F-1B5D-0611-138F69934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B5571B-161E-E09A-5698-4A40CFD312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211E9-C5AE-278A-0394-D5A3F4277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7A9B3E-94F2-61BE-DDC5-42C051384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52E40-E8E1-BD3E-81E3-532D7B29B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400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F0294-46E3-230A-33FB-B650A56B8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C59121-E297-856F-8ED2-F9B862BEEC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44B73E-5B9E-91E2-5353-C491A0CF95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24E462-7BB8-F752-941C-B91D00225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8DAB4-C59B-C493-7D76-5E1C91DA5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DC2E0-CCB3-2997-598A-4720CC284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03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79BFA-EF8F-EA09-32AE-D64B8AE7D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6459FB-C2B4-23D4-5E49-19DBA37F4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53C33-E5A3-B4F5-E8BF-0885DE881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B3BEFD-E011-F7CA-9B31-F27B73919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199C5A-F8B7-9E90-F8CD-0F9D22014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137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C63739-7054-0E76-0B25-A01771D40C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38EBE8-732F-CBA6-F8BB-30CF1BAE2D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9432A-8B6F-76F0-0D7B-30A66B962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8D616-BCA7-5689-02D1-3CA3EA884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83D8B-7730-9BA0-75AA-DC12AF5D0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253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BEEC88-9CA5-4612-35B7-82E0244A7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ADCC53-C329-CE13-38A1-EB94C1E16C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1CA58-D0E5-D20E-2F11-B1014BAA02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6C86BF-26DF-47F2-BBA6-FB99F1E1025C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54645D-A023-304B-CF92-E94304A16A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39631-FBA3-5F80-C564-B320E69D3D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09B860-F767-CF44-CE1F-64E3F076B1F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78488" y="6672580"/>
            <a:ext cx="855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General - RPS Data</a:t>
            </a:r>
          </a:p>
        </p:txBody>
      </p:sp>
    </p:spTree>
    <p:extLst>
      <p:ext uri="{BB962C8B-B14F-4D97-AF65-F5344CB8AC3E}">
        <p14:creationId xmlns:p14="http://schemas.microsoft.com/office/powerpoint/2010/main" val="3411653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87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2"/>
          <a:srcRect l="1" r="-387" b="18588"/>
          <a:stretch/>
        </p:blipFill>
        <p:spPr>
          <a:xfrm>
            <a:off x="366227" y="237669"/>
            <a:ext cx="1212311" cy="788699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66227" y="1503753"/>
            <a:ext cx="11555519" cy="998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425"/>
              </a:lnSpc>
              <a:spcBef>
                <a:spcPct val="0"/>
              </a:spcBef>
            </a:pPr>
            <a:r>
              <a:rPr lang="en-US" sz="2800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WIPRO NGA Program </a:t>
            </a:r>
            <a:r>
              <a:rPr lang="en-US" sz="280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– 25SUB4508_LSP</a:t>
            </a:r>
            <a:endParaRPr lang="en-US" sz="2800" dirty="0">
              <a:solidFill>
                <a:srgbClr val="FFFFFF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66227" y="3275236"/>
            <a:ext cx="6780319" cy="5749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Capstone Project Presentation – 13</a:t>
            </a:r>
            <a:r>
              <a:rPr lang="en-US" sz="2400" baseline="300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2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Feb &amp; 14</a:t>
            </a:r>
            <a:r>
              <a:rPr lang="en-US" sz="2400" baseline="300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 </a:t>
            </a:r>
            <a:r>
              <a:rPr lang="en-US" sz="2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Feb   2026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6226" y="6140450"/>
            <a:ext cx="4172935" cy="221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67"/>
              </a:lnSpc>
              <a:spcBef>
                <a:spcPct val="0"/>
              </a:spcBef>
            </a:pPr>
            <a:r>
              <a:rPr lang="en-US" sz="1333" spc="133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www.rpsconsulting.in</a:t>
            </a: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ED66556B-B256-8D8D-E60E-0C5895B5FFA5}"/>
              </a:ext>
            </a:extLst>
          </p:cNvPr>
          <p:cNvSpPr txBox="1"/>
          <p:nvPr/>
        </p:nvSpPr>
        <p:spPr>
          <a:xfrm>
            <a:off x="366226" y="5061410"/>
            <a:ext cx="6780319" cy="2928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- </a:t>
            </a:r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21F87AA7-2FEF-9248-CC8B-6951622F8F14}"/>
              </a:ext>
            </a:extLst>
          </p:cNvPr>
          <p:cNvSpPr txBox="1"/>
          <p:nvPr/>
        </p:nvSpPr>
        <p:spPr>
          <a:xfrm>
            <a:off x="366227" y="4136906"/>
            <a:ext cx="11009696" cy="8570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 Here - Distributed Content Discovery &amp; Inspection Utility (DCDIU) Implementation</a:t>
            </a:r>
          </a:p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7AE17-255B-EFAF-AB19-35D5726D4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CE32E4E7-27A9-CE4B-8AB0-AA5E86AA8E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075" y="6298538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3222EB71-F821-F852-BAE8-F9C461EA6C98}"/>
              </a:ext>
            </a:extLst>
          </p:cNvPr>
          <p:cNvSpPr txBox="1"/>
          <p:nvPr/>
        </p:nvSpPr>
        <p:spPr>
          <a:xfrm>
            <a:off x="5440984" y="6293228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2026 - RPS Consulting all rights reserved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7692508-899F-0FB9-CEF5-E4BD238677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470295"/>
              </p:ext>
            </p:extLst>
          </p:nvPr>
        </p:nvGraphicFramePr>
        <p:xfrm>
          <a:off x="273075" y="278864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Arial" panose="020B0604020202020204" pitchFamily="34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034644B4-D109-A5F9-C758-A754D9C84516}"/>
              </a:ext>
            </a:extLst>
          </p:cNvPr>
          <p:cNvSpPr txBox="1"/>
          <p:nvPr/>
        </p:nvSpPr>
        <p:spPr>
          <a:xfrm>
            <a:off x="273075" y="1393388"/>
            <a:ext cx="11427312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:</a:t>
            </a:r>
          </a:p>
          <a:p>
            <a:pPr>
              <a:buNone/>
            </a:pPr>
            <a:endParaRPr lang="en-US" sz="2400" b="1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Managing large volumes of files and directories manually across systems is time-consuming and error-prone. Identifying specific content within distributed storage environments can be difficult and inefficient without automation.</a:t>
            </a:r>
          </a:p>
          <a:p>
            <a:pPr>
              <a:buNone/>
            </a:pPr>
            <a:endParaRPr lang="en-US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400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Distributed Content Discovery &amp; Inspection Utility (DCDIU)</a:t>
            </a: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allows users to recursively traverse directories, search for specific keywords within files, and inspect file contents efficiently from a centralized interface.</a:t>
            </a:r>
          </a:p>
          <a:p>
            <a:pPr>
              <a:buNone/>
            </a:pPr>
            <a:endParaRPr lang="en-US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uses a C++ POSIX-based backend with a modular client-server architecture to provide reliable directory scanning, deep content analysis, structured logging, and robust error handling across Unix-like systems.</a:t>
            </a:r>
          </a:p>
        </p:txBody>
      </p:sp>
    </p:spTree>
    <p:extLst>
      <p:ext uri="{BB962C8B-B14F-4D97-AF65-F5344CB8AC3E}">
        <p14:creationId xmlns:p14="http://schemas.microsoft.com/office/powerpoint/2010/main" val="4051022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C93D02B-FEE4-BD12-A289-7ED3F7147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FAAA885F-8722-A9FE-B4CF-43C0853568D6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9FC095A-99EA-8D7D-C283-C26CA74229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531560"/>
              </p:ext>
            </p:extLst>
          </p:nvPr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Arial" panose="020B0604020202020204" pitchFamily="34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10B0346-BE21-A6C0-069B-9E38D36A75DF}"/>
              </a:ext>
            </a:extLst>
          </p:cNvPr>
          <p:cNvSpPr txBox="1"/>
          <p:nvPr/>
        </p:nvSpPr>
        <p:spPr>
          <a:xfrm>
            <a:off x="266819" y="1445452"/>
            <a:ext cx="1142731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:</a:t>
            </a:r>
          </a:p>
          <a:p>
            <a:pPr>
              <a:buNone/>
            </a:pP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modern computing environments, organizations and system administrators face several challenges, such as:</a:t>
            </a:r>
          </a:p>
          <a:p>
            <a:pPr>
              <a:buNone/>
            </a:pP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Difficulty in locating specific files within deeply nested directory structures.</a:t>
            </a:r>
            <a:b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Time-consuming manual inspection of large volumes of files to find relevant content.</a:t>
            </a:r>
            <a:b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Inefficient keyword searching across distributed or decentralized storage systems.</a:t>
            </a:r>
            <a:b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Lack of centralized tools to perform recursive directory traversal and deep content analysis.</a:t>
            </a:r>
            <a:b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Limited visibility into file contents without opening each file individually.</a:t>
            </a:r>
            <a:b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A robust, automated utility is essential to ensure efficient, accurate, and scalable content discovery across systems.</a:t>
            </a:r>
          </a:p>
        </p:txBody>
      </p:sp>
    </p:spTree>
    <p:extLst>
      <p:ext uri="{BB962C8B-B14F-4D97-AF65-F5344CB8AC3E}">
        <p14:creationId xmlns:p14="http://schemas.microsoft.com/office/powerpoint/2010/main" val="1937542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11AAB-1A4F-A2D3-74E6-F2DAAA4E0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A580B2B-E864-8C60-FEC0-32553B03F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3EDA1DE8-6180-4635-2B36-0591E2AB78AD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F12046-3DFC-B661-83BD-823B1BE36D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3070713"/>
              </p:ext>
            </p:extLst>
          </p:nvPr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Arial" panose="020B0604020202020204" pitchFamily="34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759FDE0-2D6B-8F3B-DDE2-D35E3751CCD1}"/>
              </a:ext>
            </a:extLst>
          </p:cNvPr>
          <p:cNvSpPr txBox="1"/>
          <p:nvPr/>
        </p:nvSpPr>
        <p:spPr>
          <a:xfrm>
            <a:off x="266819" y="1514278"/>
            <a:ext cx="1142731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 :</a:t>
            </a: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➔ </a:t>
            </a:r>
            <a:r>
              <a:rPr lang="en-US" sz="2400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Primary Objectives</a:t>
            </a:r>
            <a:endParaRPr lang="en-US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Develop a secure command-line utility for recursive directory traversal and content discovery.</a:t>
            </a:r>
            <a:b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Enable searching and inspection of files using keyword-based deep scanning.</a:t>
            </a:r>
            <a:b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Provide a centralized system to manage file discovery and inspection efficiently.</a:t>
            </a: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➔ </a:t>
            </a:r>
            <a:r>
              <a:rPr lang="en-US" sz="2400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Secondary Objectives</a:t>
            </a:r>
            <a:endParaRPr lang="en-US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Ensure portability across Unix-like and POSIX-compliant systems.</a:t>
            </a:r>
            <a:b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Maintain structured logging for monitoring and debugging.</a:t>
            </a:r>
            <a:b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Support multi-client handling using a modular client-server architecture.</a:t>
            </a:r>
          </a:p>
          <a:p>
            <a:pPr>
              <a:buNone/>
            </a:pPr>
            <a:endParaRPr lang="en-US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7338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A6398-C209-2009-52D9-B95FD66E1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609E43A-7D64-E062-DB5A-424A7BDF3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41972D0A-BB4D-F5A5-432C-ACDE57506B7E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3437F34-D793-C2EE-C757-34B4A5835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685450"/>
              </p:ext>
            </p:extLst>
          </p:nvPr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Arial" panose="020B0604020202020204" pitchFamily="34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5AB60F3-B4A5-7CC3-04D5-86276AAF537F}"/>
              </a:ext>
            </a:extLst>
          </p:cNvPr>
          <p:cNvSpPr txBox="1"/>
          <p:nvPr/>
        </p:nvSpPr>
        <p:spPr>
          <a:xfrm>
            <a:off x="266819" y="1382855"/>
            <a:ext cx="11427312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Features:</a:t>
            </a: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🔹 Client–Server Architecture</a:t>
            </a: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Clear separation between request initiation (client) and processing (server).</a:t>
            </a: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🔹 Remote Directory Traversal </a:t>
            </a: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Recursive traversal of directories from a configurable base path.</a:t>
            </a: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🔹 Deep Content Discovery</a:t>
            </a: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Scans file contents for specific strings or patterns across all traversed files.</a:t>
            </a: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🔹 File Inspection Mode</a:t>
            </a: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Allows targeted inspection and retrieval of file content using absolute paths.</a:t>
            </a: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🔹 Structured Response Handling  </a:t>
            </a: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Server sends processed results back to the client in a readable format.</a:t>
            </a: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🔹 Robust Error Handling &amp; Logging</a:t>
            </a:r>
          </a:p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Centralized exception handling and logging for reliability.</a:t>
            </a:r>
          </a:p>
        </p:txBody>
      </p:sp>
    </p:spTree>
    <p:extLst>
      <p:ext uri="{BB962C8B-B14F-4D97-AF65-F5344CB8AC3E}">
        <p14:creationId xmlns:p14="http://schemas.microsoft.com/office/powerpoint/2010/main" val="1384579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7D815-22F7-DEB5-E2A3-853B58488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394AB7D-8296-CAC9-E987-9346B31AC0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47048C20-5B7D-098F-9B8F-59991E7BADD7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938EBDB-0D20-0C4B-8921-E2867075933E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Arial" panose="020B0604020202020204" pitchFamily="34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987CE72-84C7-C13D-0C39-87A671F7B673}"/>
              </a:ext>
            </a:extLst>
          </p:cNvPr>
          <p:cNvSpPr txBox="1"/>
          <p:nvPr/>
        </p:nvSpPr>
        <p:spPr>
          <a:xfrm>
            <a:off x="266819" y="1382855"/>
            <a:ext cx="1142731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 –Server Communication Feature:</a:t>
            </a:r>
          </a:p>
          <a:p>
            <a:r>
              <a:rPr lang="en-IN" sz="2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feature enables communication between the client and the server using </a:t>
            </a:r>
            <a:r>
              <a:rPr lang="en-IN" sz="2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TCP sockets</a:t>
            </a:r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It forms the foundation of all other system features.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Requirements:</a:t>
            </a:r>
          </a:p>
          <a:p>
            <a:pPr marL="342900" lvl="0" indent="-342900">
              <a:buFont typeface="Wingdings" panose="05000000000000000000" pitchFamily="2" charset="2"/>
              <a:buChar char="§"/>
            </a:pPr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server shall listen for incoming client connections.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§"/>
            </a:pPr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server shall prompt the client for authentication credentials (username and password).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§"/>
            </a:pPr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client shall provide valid login credentials to the server.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§"/>
            </a:pPr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server shall authenticate the client using secure hashed password verification.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§"/>
            </a:pPr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Only authenticated clients shall be allowed to execute commands.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§"/>
            </a:pPr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client shall send text-based commands to the server after successful authentication.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400" b="1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6890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DD221-E294-18C8-D5F8-C97DDD9B1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952A75-CB1B-3D5B-805E-84BEC6DC6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35A83BEC-2BF9-0E94-31D1-C030B4C5C452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294965-65C1-739B-0E7D-3136EE2CFAB6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Arial" panose="020B0604020202020204" pitchFamily="34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EA85406-424C-CFBD-20B7-5AB64177098F}"/>
              </a:ext>
            </a:extLst>
          </p:cNvPr>
          <p:cNvSpPr txBox="1"/>
          <p:nvPr/>
        </p:nvSpPr>
        <p:spPr>
          <a:xfrm>
            <a:off x="266819" y="1382855"/>
            <a:ext cx="11427312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server shall process commands and send responses back to the client.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connection shall remain active until the client issues an exit command..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connection shall remain active until the client issues an exit command.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Inputs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 command strings (e.g., TRAVERSE, SEARCH, INSPECT, EXIT)</a:t>
            </a:r>
          </a:p>
          <a:p>
            <a:pPr lvl="0"/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Processing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Socket creation and connection establishment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Command transmission and reception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Request parsing on the server side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400" b="1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4036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75E71-413C-3988-2013-D0CE2256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EB6F754-2887-A2DE-BE38-83510DE2B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16C65A74-1D9F-7FB5-D7FA-35C61973BA60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FA246C-322C-F32C-4CD0-3BF814BB4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233916"/>
              </p:ext>
            </p:extLst>
          </p:nvPr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8433BD7-586A-29D4-4D23-ABB6E95C7F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8199606"/>
              </p:ext>
            </p:extLst>
          </p:nvPr>
        </p:nvGraphicFramePr>
        <p:xfrm>
          <a:off x="266819" y="1425677"/>
          <a:ext cx="11427312" cy="4811780"/>
        </p:xfrm>
        <a:graphic>
          <a:graphicData uri="http://schemas.openxmlformats.org/drawingml/2006/table">
            <a:tbl>
              <a:tblPr/>
              <a:tblGrid>
                <a:gridCol w="3406863">
                  <a:extLst>
                    <a:ext uri="{9D8B030D-6E8A-4147-A177-3AD203B41FA5}">
                      <a16:colId xmlns:a16="http://schemas.microsoft.com/office/drawing/2014/main" val="4221891790"/>
                    </a:ext>
                  </a:extLst>
                </a:gridCol>
                <a:gridCol w="8020449">
                  <a:extLst>
                    <a:ext uri="{9D8B030D-6E8A-4147-A177-3AD203B41FA5}">
                      <a16:colId xmlns:a16="http://schemas.microsoft.com/office/drawing/2014/main" val="3577229132"/>
                    </a:ext>
                  </a:extLst>
                </a:gridCol>
              </a:tblGrid>
              <a:tr h="3117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Requirement Tag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Requirement Description</a:t>
                      </a:r>
                    </a:p>
                  </a:txBody>
                  <a:tcPr marL="4994" marR="4994" marT="499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3070814"/>
                  </a:ext>
                </a:extLst>
              </a:tr>
              <a:tr h="37778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600" b="0" i="0" u="none" strike="noStrike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Functional Requirements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945978"/>
                  </a:ext>
                </a:extLst>
              </a:tr>
              <a:tr h="45986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DCDIU_FR_01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The utility shall be capable of performing recursive directory traversals on a remote target server, with an optional configurable base path.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9228816"/>
                  </a:ext>
                </a:extLst>
              </a:tr>
              <a:tr h="6273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DCDIU_FR_02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DCDIU must support deep-content discovery by scanning for specific strings, phrases, or patterns across all files in the target directory and returning a comprehensive match list.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7042419"/>
                  </a:ext>
                </a:extLst>
              </a:tr>
              <a:tr h="6273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DCDIU_FR_03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The system shall allow for targeted retrieval of specific files when an absolute path is provided, enabling the user to view the raw data stream.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6786151"/>
                  </a:ext>
                </a:extLst>
              </a:tr>
              <a:tr h="6273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DCDIU_FR_04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The utility must provide a 'Content Inspection' mode, allowing users to select and display the full data contents of any file identified during the discovery phase.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950566"/>
                  </a:ext>
                </a:extLst>
              </a:tr>
              <a:tr h="6273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b="0" i="0" u="none" strike="noStrike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DCDIU_FR_05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The framework shall implement an exception handling module to display descriptive system messages when traversal or discovery operations fail.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3179868"/>
                  </a:ext>
                </a:extLst>
              </a:tr>
              <a:tr h="6273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b="0" i="0" u="none" strike="noStrike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DCDIU_FR_06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A command-line driven interface (CLI) shall be provided, featuring a structured menu for all supported discovery and inspection operations.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310173"/>
                  </a:ext>
                </a:extLst>
              </a:tr>
              <a:tr h="45986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b="0" i="0" u="none" strike="noStrike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DCDIU_FR_07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The system must integrate a diagnostic logging engine with four standardized severity levels: FATAL, INFO, WARNING, and DEBUG.</a:t>
                      </a:r>
                    </a:p>
                  </a:txBody>
                  <a:tcPr marL="4994" marR="4994" marT="499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546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4012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C4CBC-2245-A265-A4DD-2ED71F21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18434DE-7317-BBBD-E515-0735A0D2F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01AA7A99-D297-A4DD-40BB-3F7FB5C3E061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8934720-31CA-04FA-B987-0DA96116B6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017865"/>
              </p:ext>
            </p:extLst>
          </p:nvPr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64401C8-FD84-E371-6F43-74750326D3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733976"/>
              </p:ext>
            </p:extLst>
          </p:nvPr>
        </p:nvGraphicFramePr>
        <p:xfrm>
          <a:off x="266819" y="1777452"/>
          <a:ext cx="11354910" cy="2450419"/>
        </p:xfrm>
        <a:graphic>
          <a:graphicData uri="http://schemas.openxmlformats.org/drawingml/2006/table">
            <a:tbl>
              <a:tblPr/>
              <a:tblGrid>
                <a:gridCol w="3356908">
                  <a:extLst>
                    <a:ext uri="{9D8B030D-6E8A-4147-A177-3AD203B41FA5}">
                      <a16:colId xmlns:a16="http://schemas.microsoft.com/office/drawing/2014/main" val="326700608"/>
                    </a:ext>
                  </a:extLst>
                </a:gridCol>
                <a:gridCol w="7998002">
                  <a:extLst>
                    <a:ext uri="{9D8B030D-6E8A-4147-A177-3AD203B41FA5}">
                      <a16:colId xmlns:a16="http://schemas.microsoft.com/office/drawing/2014/main" val="438604764"/>
                    </a:ext>
                  </a:extLst>
                </a:gridCol>
              </a:tblGrid>
              <a:tr h="70445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Non-Functional Requirements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Requirement Description</a:t>
                      </a:r>
                    </a:p>
                    <a:p>
                      <a:pPr algn="ctr" fontAlgn="b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6943810"/>
                  </a:ext>
                </a:extLst>
              </a:tr>
              <a:tr h="101721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DCDIU_NF_01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Portability: The utility shall be compatible with all standard Unix-like and POSIX-compliant Operating Systems.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1636773"/>
                  </a:ext>
                </a:extLst>
              </a:tr>
              <a:tr h="72874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800" b="0" i="0" u="none" strike="noStrike" dirty="0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DCDIU_NF_02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87CC"/>
                          </a:solidFill>
                          <a:effectLst/>
                          <a:latin typeface="Arial" panose="020B0604020202020204" pitchFamily="34" charset="0"/>
                        </a:rPr>
                        <a:t>Modularity: The system architecture shall utilize well-defined interfaces to ensure scalability and the addition of future data-parsing modules.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934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8559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56AED-88B0-E146-E80C-5015F6E15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EFB9DBF-5C92-6D72-A02E-2536D9E1B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C2719B3F-552D-D229-E02A-E810F6E2CABF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E1E6832-6A4B-CE4A-F917-5BDCF5102CEB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FA96A6A-8605-3F9D-2416-13EDCD2F0D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618469"/>
              </p:ext>
            </p:extLst>
          </p:nvPr>
        </p:nvGraphicFramePr>
        <p:xfrm>
          <a:off x="838200" y="2064241"/>
          <a:ext cx="10515600" cy="32918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44096185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10416413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126761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Requirement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Implementation Module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21393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0187CC"/>
                          </a:solidFill>
                        </a:rPr>
                        <a:t>DCDIU_FR_01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Client–Server Connection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TCP Socket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1584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DCDIU_FR_02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Recursive Directory Traversal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DirectoryTraverser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080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0187CC"/>
                          </a:solidFill>
                        </a:rPr>
                        <a:t>DCDIU_FR_03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Deep Content Scanning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ContentScanner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93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DCDIU_FR_04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187CC"/>
                          </a:solidFill>
                        </a:rPr>
                        <a:t>File Inspection by Absolute Path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FileInspector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6656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DCDIU_FR_05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Request Parsing &amp; Delegation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ClientHandler / 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90337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DCDIU_FR_06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Structured Response Delivery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Server → Client Communication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83524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DCDIU_FR_07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Error Handling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ExceptionHandler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005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DCDIU_FR_08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0187CC"/>
                          </a:solidFill>
                        </a:rPr>
                        <a:t>Logging &amp; Observability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0187CC"/>
                          </a:solidFill>
                        </a:rPr>
                        <a:t>Logger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67654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62F590-2854-079B-8BDD-EB8CBD995374}"/>
              </a:ext>
            </a:extLst>
          </p:cNvPr>
          <p:cNvSpPr txBox="1"/>
          <p:nvPr/>
        </p:nvSpPr>
        <p:spPr>
          <a:xfrm>
            <a:off x="266818" y="1420547"/>
            <a:ext cx="50524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>
                <a:solidFill>
                  <a:srgbClr val="0187CC"/>
                </a:solidFill>
              </a:rPr>
              <a:t>Functional Requirements Mapping:</a:t>
            </a:r>
          </a:p>
        </p:txBody>
      </p:sp>
    </p:spTree>
    <p:extLst>
      <p:ext uri="{BB962C8B-B14F-4D97-AF65-F5344CB8AC3E}">
        <p14:creationId xmlns:p14="http://schemas.microsoft.com/office/powerpoint/2010/main" val="2658535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DF1B0-EBC6-A2F1-9D2F-0B4A79CF9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C5524D0-D1BE-DED7-FE2F-3F80DD5D1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3096E06-0720-E43B-1556-A87E5ABAC400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7975246-21ED-9D6B-1C94-0639B8FB65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326807"/>
              </p:ext>
            </p:extLst>
          </p:nvPr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420D8E9-61FF-1973-AEE4-A15A8DB277F7}"/>
              </a:ext>
            </a:extLst>
          </p:cNvPr>
          <p:cNvSpPr txBox="1"/>
          <p:nvPr/>
        </p:nvSpPr>
        <p:spPr>
          <a:xfrm>
            <a:off x="913051" y="1225689"/>
            <a:ext cx="4752727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 Module :</a:t>
            </a:r>
          </a:p>
          <a:p>
            <a:pPr>
              <a:buNone/>
            </a:pPr>
            <a:r>
              <a:rPr lang="en-US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Directory Traversal Module:</a:t>
            </a:r>
          </a:p>
          <a:p>
            <a:pPr>
              <a:buNone/>
            </a:pPr>
            <a: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Recursive scanning of directories and subdirectories</a:t>
            </a:r>
            <a:b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Collect and manage file paths dynamically</a:t>
            </a:r>
          </a:p>
          <a:p>
            <a:pPr>
              <a:buNone/>
            </a:pPr>
            <a:endParaRPr lang="en-US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Content Scanning Module:</a:t>
            </a:r>
          </a:p>
          <a:p>
            <a:pPr>
              <a:buNone/>
            </a:pPr>
            <a: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Search for specific keywords within files</a:t>
            </a:r>
            <a:b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Perform deep content discovery across all scanned files</a:t>
            </a:r>
            <a:b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File Inspection Module:</a:t>
            </a:r>
          </a:p>
          <a:p>
            <a:pPr>
              <a:buNone/>
            </a:pPr>
            <a: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Display full file content on request</a:t>
            </a:r>
            <a:b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Enable detailed inspection of selected files</a:t>
            </a:r>
          </a:p>
          <a:p>
            <a:pPr>
              <a:buNone/>
            </a:pPr>
            <a:endParaRPr lang="en-US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Logging &amp; Exception Module:</a:t>
            </a:r>
          </a:p>
          <a:p>
            <a:pPr>
              <a:buNone/>
            </a:pPr>
            <a: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Maintain structured logs (INFO, WARNING, DEBUG, FATAL)</a:t>
            </a:r>
            <a:b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Handle system errors gracefully using </a:t>
            </a:r>
            <a:r>
              <a:rPr lang="en-US" dirty="0" err="1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ExceptionHandler</a:t>
            </a:r>
            <a:endParaRPr lang="en-US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BB5CB5-CFA4-6A22-0D1F-65523652F7EA}"/>
              </a:ext>
            </a:extLst>
          </p:cNvPr>
          <p:cNvSpPr txBox="1"/>
          <p:nvPr/>
        </p:nvSpPr>
        <p:spPr>
          <a:xfrm>
            <a:off x="5665778" y="1305788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Multi-Client Handling Module:</a:t>
            </a:r>
          </a:p>
          <a:p>
            <a:pPr>
              <a:buNone/>
            </a:pPr>
            <a: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Handle multiple client connections concurrently</a:t>
            </a:r>
            <a:b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Manage independent client requests using threading</a:t>
            </a:r>
          </a:p>
          <a:p>
            <a:pPr>
              <a:buNone/>
            </a:pPr>
            <a:b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6. Communication Module:</a:t>
            </a:r>
          </a:p>
          <a:p>
            <a:pPr>
              <a:buNone/>
            </a:pPr>
            <a: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Establish client-server socket connection</a:t>
            </a:r>
            <a:b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Exchange directory path and keyword data securely</a:t>
            </a:r>
          </a:p>
          <a:p>
            <a:pPr>
              <a:buNone/>
            </a:pPr>
            <a:b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7. System Monitoring Module:</a:t>
            </a:r>
          </a:p>
          <a:p>
            <a:pPr>
              <a:buNone/>
            </a:pPr>
            <a: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Maintain detailed activity logs for auditing</a:t>
            </a:r>
            <a:b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Monitor execution status and error reporting</a:t>
            </a:r>
          </a:p>
        </p:txBody>
      </p:sp>
    </p:spTree>
    <p:extLst>
      <p:ext uri="{BB962C8B-B14F-4D97-AF65-F5344CB8AC3E}">
        <p14:creationId xmlns:p14="http://schemas.microsoft.com/office/powerpoint/2010/main" val="860216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55994-5A84-DEBD-4868-C241A82B1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C449E12-0D33-383A-109E-9D43559FD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D586499A-8DF9-7E08-4EAB-B6D59D72D81C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8C8E57A-36DD-F101-E87A-360175226F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459099"/>
              </p:ext>
            </p:extLst>
          </p:nvPr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87779DD6-80DA-0C33-5468-A08BB2A17D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71"/>
          <a:stretch>
            <a:fillRect/>
          </a:stretch>
        </p:blipFill>
        <p:spPr bwMode="auto">
          <a:xfrm>
            <a:off x="1868130" y="1518920"/>
            <a:ext cx="8701548" cy="475758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3DDCE6-AD37-B619-A996-583E928F37CC}"/>
              </a:ext>
            </a:extLst>
          </p:cNvPr>
          <p:cNvSpPr txBox="1"/>
          <p:nvPr/>
        </p:nvSpPr>
        <p:spPr>
          <a:xfrm>
            <a:off x="266819" y="1288087"/>
            <a:ext cx="35087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Architecture:</a:t>
            </a:r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66504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B7B35-F43E-4580-9C2F-9234CCD07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1361E55-E8D6-CF48-EADF-39411A905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E20009A-637A-A773-2E32-E7B487087BF6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C3121B-30C4-6B55-A731-7C5F148FFA80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18F640-BECE-0B09-2CDD-23B5BDF7E0F5}"/>
              </a:ext>
            </a:extLst>
          </p:cNvPr>
          <p:cNvSpPr txBox="1"/>
          <p:nvPr/>
        </p:nvSpPr>
        <p:spPr>
          <a:xfrm>
            <a:off x="266819" y="1288087"/>
            <a:ext cx="35087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Architecture:</a:t>
            </a:r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EE28E6-2BE1-7B96-402B-B54E23E309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820" y="1288087"/>
            <a:ext cx="11427312" cy="4914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2061BA-92AE-45CE-732D-C1105C3D26EC}"/>
              </a:ext>
            </a:extLst>
          </p:cNvPr>
          <p:cNvSpPr txBox="1"/>
          <p:nvPr/>
        </p:nvSpPr>
        <p:spPr>
          <a:xfrm>
            <a:off x="384132" y="1307331"/>
            <a:ext cx="32741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1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 Diagram</a:t>
            </a:r>
            <a:endParaRPr lang="en-IN" sz="2400" dirty="0">
              <a:solidFill>
                <a:srgbClr val="01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94887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17864-2C52-DFF2-F126-5999F4301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32933F-D85A-B6F6-1986-60163B56E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13BC1B05-8E5E-6810-D4C2-951FDB1D43FF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5BEE3AE-0E51-37DA-3E93-DB39AEB8CFEB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E4CBBDCB-FE56-DE3C-2CAE-0088B0FFE8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474" y="1926359"/>
            <a:ext cx="10335052" cy="36576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70D4DD-AD6A-C95F-2EE4-37F58C80642F}"/>
              </a:ext>
            </a:extLst>
          </p:cNvPr>
          <p:cNvSpPr txBox="1"/>
          <p:nvPr/>
        </p:nvSpPr>
        <p:spPr>
          <a:xfrm>
            <a:off x="266819" y="1288087"/>
            <a:ext cx="35087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Use-Case Diagram:</a:t>
            </a:r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0739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EA5F7-4027-08D3-09F4-5839D526C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77810D5-DA5F-7848-5A65-AEA1691A1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907AC47-79D6-4566-C031-3DC7CC688304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4B853A-3EC4-5501-E75C-CC2B2F90769A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FC32F1D-24E8-D1E9-D50E-8C3276B2DCFC}"/>
              </a:ext>
            </a:extLst>
          </p:cNvPr>
          <p:cNvSpPr txBox="1"/>
          <p:nvPr/>
        </p:nvSpPr>
        <p:spPr>
          <a:xfrm>
            <a:off x="589935" y="1343171"/>
            <a:ext cx="4714642" cy="6278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Instructions</a:t>
            </a:r>
          </a:p>
          <a:p>
            <a:endParaRPr lang="en-US" dirty="0"/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1.1 Prerequisites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Linux / WSL / macOS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g++ (C++17 compatible)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make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OpenSSL Development Library</a:t>
            </a:r>
          </a:p>
          <a:p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 OpenSSL: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bash</a:t>
            </a:r>
          </a:p>
          <a:p>
            <a:r>
              <a:rPr lang="en-US" sz="2400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apt update</a:t>
            </a:r>
          </a:p>
          <a:p>
            <a:r>
              <a:rPr lang="en-US" sz="2400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apt install </a:t>
            </a:r>
            <a:r>
              <a:rPr lang="en-US" sz="2400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libssl</a:t>
            </a:r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-dev</a:t>
            </a:r>
            <a:b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dirty="0"/>
            </a:br>
            <a:endParaRPr lang="en-US" dirty="0"/>
          </a:p>
          <a:p>
            <a:br>
              <a:rPr lang="en-US" dirty="0"/>
            </a:br>
            <a:endParaRPr lang="en-US" dirty="0"/>
          </a:p>
          <a:p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456C73-3F24-9474-F887-7A0E73F58ADA}"/>
              </a:ext>
            </a:extLst>
          </p:cNvPr>
          <p:cNvSpPr txBox="1"/>
          <p:nvPr/>
        </p:nvSpPr>
        <p:spPr>
          <a:xfrm>
            <a:off x="5665778" y="1436518"/>
            <a:ext cx="5229905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1.2 Build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From the project root directory: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bash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make clean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make</a:t>
            </a:r>
            <a:b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generates: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build/server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build/client</a:t>
            </a:r>
          </a:p>
          <a:p>
            <a:br>
              <a:rPr lang="en-US" dirty="0"/>
            </a:br>
            <a:endParaRPr lang="en-US" dirty="0"/>
          </a:p>
          <a:p>
            <a:br>
              <a:rPr lang="en-US" dirty="0"/>
            </a:br>
            <a:endParaRPr lang="en-US" dirty="0"/>
          </a:p>
          <a:p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9563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CDE85-2015-18EA-FF31-5E3B02C7A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272F3BA-EE00-6F13-6097-96686D164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6C932276-EE54-5DCA-B6FD-F4CC38B1D716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D465384-6E0E-144D-6C1B-82B62679537A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51BE35C-193D-B41E-2BB1-A4426B567BAC}"/>
              </a:ext>
            </a:extLst>
          </p:cNvPr>
          <p:cNvSpPr txBox="1"/>
          <p:nvPr/>
        </p:nvSpPr>
        <p:spPr>
          <a:xfrm>
            <a:off x="589935" y="1343171"/>
            <a:ext cx="4896465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Running the Application</a:t>
            </a:r>
          </a:p>
          <a:p>
            <a:endParaRPr lang="en-US" dirty="0"/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1.1 Start the Server</a:t>
            </a:r>
          </a:p>
          <a:p>
            <a:endParaRPr lang="en-US" dirty="0"/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 Terminal 1:</a:t>
            </a:r>
          </a:p>
          <a:p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bash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./build/server</a:t>
            </a:r>
            <a:b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server starts listening on the configured port. </a:t>
            </a:r>
          </a:p>
          <a:p>
            <a:endParaRPr lang="en-US" dirty="0"/>
          </a:p>
          <a:p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A711D-09EE-92C5-7876-DF03E7E82543}"/>
              </a:ext>
            </a:extLst>
          </p:cNvPr>
          <p:cNvSpPr txBox="1"/>
          <p:nvPr/>
        </p:nvSpPr>
        <p:spPr>
          <a:xfrm>
            <a:off x="5809516" y="1233816"/>
            <a:ext cx="4896465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sz="2400" dirty="0"/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1.2 Start Clients</a:t>
            </a:r>
          </a:p>
          <a:p>
            <a:endParaRPr lang="en-US" sz="2400" dirty="0"/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 Terminal 2 / Terminal 3:</a:t>
            </a:r>
            <a:b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bash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./build/client</a:t>
            </a:r>
            <a:b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Multiple clients can connect simultaneously.</a:t>
            </a:r>
          </a:p>
          <a:p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84917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CD021-F12A-8784-2E54-5D9EBF259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3F22CF1-50F4-39CE-C749-52A585E7B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02966E9-EF3C-FB99-4528-24749D2FA24F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2ED7207-3BAF-6ECA-52EB-D57CBCF65188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B66B173-D2EA-32AE-84EB-997E493A2084}"/>
              </a:ext>
            </a:extLst>
          </p:cNvPr>
          <p:cNvSpPr txBox="1"/>
          <p:nvPr/>
        </p:nvSpPr>
        <p:spPr>
          <a:xfrm>
            <a:off x="589935" y="1343171"/>
            <a:ext cx="1080150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How to Use the Application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section describes the actual execution flow and output of the DCDIU system as observed during testing.</a:t>
            </a:r>
          </a:p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1.1 Starting the Client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 the client application using: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bash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./build/client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 successful connection, the client prompts for registration or login.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Username: </a:t>
            </a:r>
            <a:r>
              <a:rPr lang="en-US" sz="2400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Mershika</a:t>
            </a: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Password: (Enter Your password)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Account created</a:t>
            </a:r>
            <a:endParaRPr lang="en-US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confirms that the authentication module is working correctly</a:t>
            </a:r>
            <a:r>
              <a:rPr lang="en-US" dirty="0">
                <a:solidFill>
                  <a:schemeClr val="tx2">
                    <a:lumMod val="50000"/>
                    <a:lumOff val="50000"/>
                  </a:schemeClr>
                </a:solidFill>
              </a:rPr>
              <a:t>.</a:t>
            </a:r>
          </a:p>
          <a:p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55282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E51C7-64BA-48D1-D31D-6DDDFCDA5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C17CC2-E626-2B88-4867-BC1613876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6D50DD26-245C-A501-D79E-C5CCC97893E8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6ACAFE5-42B0-F6D4-C2D1-79D709F0FD09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02C7B86-1616-5ED5-F9B7-18D0ED6E09A7}"/>
              </a:ext>
            </a:extLst>
          </p:cNvPr>
          <p:cNvSpPr txBox="1"/>
          <p:nvPr/>
        </p:nvSpPr>
        <p:spPr>
          <a:xfrm>
            <a:off x="589935" y="1343171"/>
            <a:ext cx="1080150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1.2 Main Menu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After login, the client displays the main menu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----------------------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   Display Menu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----------------------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Traverse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Search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Inspect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Exit</a:t>
            </a:r>
            <a:b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Users can select an option by entering the corresponding number.</a:t>
            </a:r>
          </a:p>
          <a:p>
            <a:b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1671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52929-6666-4CB7-92A5-414E51D17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E5EFCAD-D97A-729C-C701-1967397A8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848D97F-24DA-E834-C0F8-438B994DE373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3753815-B078-374F-AB61-BF47D3BC3479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35E1C4D-9082-C038-F2B7-72D44C078689}"/>
              </a:ext>
            </a:extLst>
          </p:cNvPr>
          <p:cNvSpPr txBox="1"/>
          <p:nvPr/>
        </p:nvSpPr>
        <p:spPr>
          <a:xfrm>
            <a:off x="589935" y="1343171"/>
            <a:ext cx="10801506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1.3 Directory Traversal (Option 1)</a:t>
            </a:r>
          </a:p>
          <a:p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When the user selects option 1 (Traverse), the system requests a directory path.</a:t>
            </a:r>
          </a:p>
          <a:p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</a:p>
          <a:p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Choice: 1</a:t>
            </a:r>
          </a:p>
          <a:p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Enter directory path: /home/student/25SUB4508</a:t>
            </a:r>
          </a:p>
          <a:p>
            <a:endParaRPr lang="en-US" sz="20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server performs recursive traversal and sends the results to the client.</a:t>
            </a:r>
          </a:p>
          <a:p>
            <a:endParaRPr lang="en-US" sz="20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Sample Output:</a:t>
            </a:r>
          </a:p>
          <a:p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Directory: /home/student/25SUB4508</a:t>
            </a:r>
          </a:p>
          <a:p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Directory: /home/student/25SUB4508/25sub4508_56117</a:t>
            </a:r>
          </a:p>
          <a:p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Directory: /home/student/25SUB4508/25sub4508_56117/Capstone</a:t>
            </a:r>
          </a:p>
          <a:p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File: /home/student/.../Custom_system_call_using_Dockerfile_1_.pdf</a:t>
            </a:r>
          </a:p>
          <a:p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File: /home/student/.../CA_SOFTWARE.pptx</a:t>
            </a:r>
          </a:p>
          <a:p>
            <a:endParaRPr lang="en-US" sz="20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confirms successful directory scanning and file detection.</a:t>
            </a:r>
          </a:p>
          <a:p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5081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CBDC1-1F26-0CBC-86C0-B635196C7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DE0064-F4A7-9FCA-68A7-3B4208808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FF838658-8F19-6BAC-42BA-BD38EE8C826F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65DDEB-D4E3-2A0C-22DF-E18E7FD3DD6E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C4B68DC-7891-717E-8FA0-63F256DA0FB2}"/>
              </a:ext>
            </a:extLst>
          </p:cNvPr>
          <p:cNvSpPr txBox="1"/>
          <p:nvPr/>
        </p:nvSpPr>
        <p:spPr>
          <a:xfrm>
            <a:off x="589935" y="1343171"/>
            <a:ext cx="10801506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1.4 Search (Option 2)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Allows users to search for specific files or keywords within the selected directory.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Steps: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Select option 2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Enter search keyword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View matched results</a:t>
            </a:r>
          </a:p>
          <a:p>
            <a:endParaRPr lang="en-US" dirty="0"/>
          </a:p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1.5 Inspect (Option 3)</a:t>
            </a:r>
            <a:endParaRPr lang="en-US" b="1" dirty="0"/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Inspect feature analyzes selected files and displays detailed information such as size, type, and content patterns.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Steps: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Select option 3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Provide file or directory path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Review inspection report</a:t>
            </a:r>
          </a:p>
          <a:p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17299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FB1C2-8817-765F-A375-DE4757A04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E5A44F1-E9EF-E0B9-E4F0-8F472AEB6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2132D0EA-4BA0-C728-8AA0-C106A5C35486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C86A679-4F04-23ED-8693-463D2C934C75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0299524-12E3-C43F-CC54-7FAD8E468737}"/>
              </a:ext>
            </a:extLst>
          </p:cNvPr>
          <p:cNvSpPr txBox="1"/>
          <p:nvPr/>
        </p:nvSpPr>
        <p:spPr>
          <a:xfrm>
            <a:off x="589935" y="1343171"/>
            <a:ext cx="10801506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1.6 Exit (Option 4)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Safely terminates the client session and disconnects from the server.</a:t>
            </a:r>
          </a:p>
          <a:p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 Commands</a:t>
            </a:r>
          </a:p>
          <a:p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Command    Description                         </a:t>
            </a: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/exit            Exit the client application       </a:t>
            </a:r>
          </a:p>
          <a:p>
            <a:endParaRPr lang="en-US" dirty="0"/>
          </a:p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Logging &amp; Observability</a:t>
            </a:r>
          </a:p>
          <a:p>
            <a:endParaRPr lang="en-US" dirty="0"/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 files are stored in:</a:t>
            </a:r>
          </a:p>
          <a:p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schemeClr val="tx2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-logs/username_pid.log</a:t>
            </a:r>
          </a:p>
          <a:p>
            <a:br>
              <a:rPr lang="en-US" dirty="0"/>
            </a:br>
            <a:endParaRPr lang="en-US" dirty="0"/>
          </a:p>
          <a:p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solidFill>
                <a:schemeClr val="tx2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91477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0AC4E-EE4A-AFED-3A1F-8E998E3C6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A1CEA53-1CDA-2339-8E75-EFFF41211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3B53B33-4763-4989-FE52-C187E32EE9B5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0EA59F-6176-8620-9D83-8D8A291E1739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8D78A8B-9EB6-4559-8CDD-22B83070C504}"/>
              </a:ext>
            </a:extLst>
          </p:cNvPr>
          <p:cNvSpPr txBox="1"/>
          <p:nvPr/>
        </p:nvSpPr>
        <p:spPr>
          <a:xfrm>
            <a:off x="266819" y="1288087"/>
            <a:ext cx="4629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Output:  Connecting to the server</a:t>
            </a:r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219667-D016-1A8F-F368-E552848D4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729" y="2185813"/>
            <a:ext cx="10326541" cy="3036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463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92848-A566-F121-EB53-58B6C28FA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7EA9C8-11ED-B427-6E49-6C27BD486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4E848A41-569C-EB82-5BEB-121ECB452399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4F40531-87AC-AE45-DCDD-AAF251A7000B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8FAF433-FB07-69A3-E87F-BE30E3E0571A}"/>
              </a:ext>
            </a:extLst>
          </p:cNvPr>
          <p:cNvSpPr txBox="1"/>
          <p:nvPr/>
        </p:nvSpPr>
        <p:spPr>
          <a:xfrm>
            <a:off x="266819" y="1288087"/>
            <a:ext cx="35087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Output: Choice 1)Traverse </a:t>
            </a:r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1CD279-7394-D6DA-9FA6-6A093A39E6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1343" y="1773086"/>
            <a:ext cx="8980714" cy="4432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4736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00C5D-E41D-342E-1DC5-9AE7AEC30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73B95E1-889A-EC67-7DAC-2FBEA3B31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CE24B06A-963C-F5DE-6E93-0E44F6DD6919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B93C8A6-B55E-6EA0-4B97-18BD468A75F5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F5EBC25-E4E1-2D7C-C1DC-F541A55994B8}"/>
              </a:ext>
            </a:extLst>
          </p:cNvPr>
          <p:cNvSpPr txBox="1"/>
          <p:nvPr/>
        </p:nvSpPr>
        <p:spPr>
          <a:xfrm>
            <a:off x="266819" y="1288087"/>
            <a:ext cx="35087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Output: Choice 2) Search</a:t>
            </a:r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861FF7-B575-0185-19D8-BD4805CD1D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28" y="2198361"/>
            <a:ext cx="10303694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4831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02FC6-BF84-02B8-D29E-D004CDD8F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B8E7DAB-3BCE-6713-FCB1-6390752C78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8F90CE3-7EC4-EDB4-8F04-421AB5D9A826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D4F2112-C3CB-AF87-CEA7-52CC9BFB5632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26E68AD-4BE5-630D-F313-7C89E209BDC4}"/>
              </a:ext>
            </a:extLst>
          </p:cNvPr>
          <p:cNvSpPr txBox="1"/>
          <p:nvPr/>
        </p:nvSpPr>
        <p:spPr>
          <a:xfrm>
            <a:off x="266819" y="1288087"/>
            <a:ext cx="35087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Output: Choice 3) Inspect</a:t>
            </a:r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A1BEDD-EF37-A6B5-0728-C959F516FA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051" y="2009083"/>
            <a:ext cx="10417629" cy="4008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5571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5F260-452C-9F1B-CC16-00181DFBD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36EF14D-63EA-FCD1-48CA-18F7F0F480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8D149349-06C8-3107-42AA-670854702815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82F8685-FD29-03D8-F705-4476DD1BD16A}"/>
              </a:ext>
            </a:extLst>
          </p:cNvPr>
          <p:cNvGraphicFramePr>
            <a:graphicFrameLocks noGrp="1"/>
          </p:cNvGraphicFramePr>
          <p:nvPr/>
        </p:nvGraphicFramePr>
        <p:xfrm>
          <a:off x="266819" y="250836"/>
          <a:ext cx="11427312" cy="982980"/>
        </p:xfrm>
        <a:graphic>
          <a:graphicData uri="http://schemas.openxmlformats.org/drawingml/2006/table">
            <a:tbl>
              <a:tblPr/>
              <a:tblGrid>
                <a:gridCol w="11427312">
                  <a:extLst>
                    <a:ext uri="{9D8B030D-6E8A-4147-A177-3AD203B41FA5}">
                      <a16:colId xmlns:a16="http://schemas.microsoft.com/office/drawing/2014/main" val="1073972921"/>
                    </a:ext>
                  </a:extLst>
                </a:gridCol>
              </a:tblGrid>
              <a:tr h="65520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3200" b="1" i="0" u="none" strike="noStrike" dirty="0">
                          <a:solidFill>
                            <a:srgbClr val="0187CC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Distributed Content Discovery &amp; Inspection Utility (DCDIU) Implementation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092481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8B51B0C2-A7A8-6F59-8A47-EC4DDB09D801}"/>
              </a:ext>
            </a:extLst>
          </p:cNvPr>
          <p:cNvSpPr txBox="1"/>
          <p:nvPr/>
        </p:nvSpPr>
        <p:spPr>
          <a:xfrm>
            <a:off x="266819" y="1288087"/>
            <a:ext cx="48450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87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Output: Disconnecting the server</a:t>
            </a:r>
            <a:endParaRPr lang="en-IN" sz="2400" dirty="0">
              <a:solidFill>
                <a:srgbClr val="0087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C284E7-B71F-4106-E9FA-5CB564231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785" y="1804023"/>
            <a:ext cx="9809379" cy="453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3812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6FDE5-1EBB-8C7D-CF82-335470F66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C5CD64F-345B-29A4-5042-3DC36D33F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19" y="6276502"/>
            <a:ext cx="646232" cy="420660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184BDF9D-D653-8D07-E2AF-9C6174E07FB5}"/>
              </a:ext>
            </a:extLst>
          </p:cNvPr>
          <p:cNvSpPr txBox="1"/>
          <p:nvPr/>
        </p:nvSpPr>
        <p:spPr>
          <a:xfrm>
            <a:off x="5665778" y="636649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2026 - RPS Consulting all rights reserved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4F31674B-926F-8B30-7075-4DC3EB89E1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984" y="250836"/>
            <a:ext cx="10111153" cy="5907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66039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3053</TotalTime>
  <Words>2075</Words>
  <Application>Microsoft Office PowerPoint</Application>
  <PresentationFormat>Widescreen</PresentationFormat>
  <Paragraphs>295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Aptos</vt:lpstr>
      <vt:lpstr>Aptos Display</vt:lpstr>
      <vt:lpstr>Arial</vt:lpstr>
      <vt:lpstr>HK Grotesk Light</vt:lpstr>
      <vt:lpstr>Times New Roman</vt:lpstr>
      <vt:lpstr>Verdana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Tilak</dc:creator>
  <cp:lastModifiedBy>mershikajayabal08@gmail.com</cp:lastModifiedBy>
  <cp:revision>20</cp:revision>
  <dcterms:created xsi:type="dcterms:W3CDTF">2024-05-04T13:11:57Z</dcterms:created>
  <dcterms:modified xsi:type="dcterms:W3CDTF">2026-02-12T17:10:04Z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0f486e-1d0b-4fd6-a73f-04d94048a140_Enabled">
    <vt:lpwstr>true</vt:lpwstr>
  </property>
  <property fmtid="{D5CDD505-2E9C-101B-9397-08002B2CF9AE}" pid="3" name="MSIP_Label_e80f486e-1d0b-4fd6-a73f-04d94048a140_SetDate">
    <vt:lpwstr>2026-02-04T04:06:58Z</vt:lpwstr>
  </property>
  <property fmtid="{D5CDD505-2E9C-101B-9397-08002B2CF9AE}" pid="4" name="MSIP_Label_e80f486e-1d0b-4fd6-a73f-04d94048a140_Method">
    <vt:lpwstr>Standard</vt:lpwstr>
  </property>
  <property fmtid="{D5CDD505-2E9C-101B-9397-08002B2CF9AE}" pid="5" name="MSIP_Label_e80f486e-1d0b-4fd6-a73f-04d94048a140_Name">
    <vt:lpwstr>General - RPS Data</vt:lpwstr>
  </property>
  <property fmtid="{D5CDD505-2E9C-101B-9397-08002B2CF9AE}" pid="6" name="MSIP_Label_e80f486e-1d0b-4fd6-a73f-04d94048a140_SiteId">
    <vt:lpwstr>6565c732-1653-4ffe-b9d3-80a4f1c0c25d</vt:lpwstr>
  </property>
  <property fmtid="{D5CDD505-2E9C-101B-9397-08002B2CF9AE}" pid="7" name="MSIP_Label_e80f486e-1d0b-4fd6-a73f-04d94048a140_ActionId">
    <vt:lpwstr>0c3cc09a-e54e-4ae4-a9fa-efa3f9d629ce</vt:lpwstr>
  </property>
  <property fmtid="{D5CDD505-2E9C-101B-9397-08002B2CF9AE}" pid="8" name="MSIP_Label_e80f486e-1d0b-4fd6-a73f-04d94048a140_ContentBits">
    <vt:lpwstr>2</vt:lpwstr>
  </property>
  <property fmtid="{D5CDD505-2E9C-101B-9397-08002B2CF9AE}" pid="9" name="MSIP_Label_e80f486e-1d0b-4fd6-a73f-04d94048a140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General - RPS Data</vt:lpwstr>
  </property>
</Properties>
</file>