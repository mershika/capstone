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60" r:id="rId2"/>
    <p:sldId id="4421" r:id="rId3"/>
    <p:sldId id="4422" r:id="rId4"/>
    <p:sldId id="4423" r:id="rId5"/>
    <p:sldId id="4424" r:id="rId6"/>
    <p:sldId id="4436" r:id="rId7"/>
    <p:sldId id="4439" r:id="rId8"/>
    <p:sldId id="4426" r:id="rId9"/>
    <p:sldId id="4427" r:id="rId10"/>
    <p:sldId id="4429" r:id="rId11"/>
    <p:sldId id="4428" r:id="rId12"/>
    <p:sldId id="4425" r:id="rId13"/>
    <p:sldId id="4430" r:id="rId14"/>
    <p:sldId id="4431" r:id="rId15"/>
    <p:sldId id="4443" r:id="rId16"/>
    <p:sldId id="4444" r:id="rId17"/>
    <p:sldId id="4445" r:id="rId18"/>
    <p:sldId id="4446" r:id="rId19"/>
    <p:sldId id="4447" r:id="rId20"/>
    <p:sldId id="4448" r:id="rId21"/>
    <p:sldId id="4449" r:id="rId22"/>
    <p:sldId id="4432" r:id="rId23"/>
    <p:sldId id="4433" r:id="rId24"/>
    <p:sldId id="4434" r:id="rId25"/>
    <p:sldId id="4435" r:id="rId26"/>
    <p:sldId id="444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  <a:srgbClr val="00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WIPRO NGA Program </a:t>
            </a:r>
            <a:r>
              <a:rPr lang="en-US" sz="280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25SUB4508_LSP</a:t>
            </a:r>
            <a:endParaRPr lang="en-US" sz="2800" dirty="0">
              <a:solidFill>
                <a:srgbClr val="FFFFF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Presentation – 13</a:t>
            </a:r>
            <a:r>
              <a:rPr lang="en-US" sz="2400" baseline="30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Feb &amp; 14</a:t>
            </a:r>
            <a:r>
              <a:rPr lang="en-US" sz="2400" baseline="30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  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- 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11009696" cy="8570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Here - Distributed Content Discovery &amp; Inspection Utility (DCDIU) Implementation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75" y="6298538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5440984" y="6293228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2026 - RPS Consulting all rights reserved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7692508-899F-0FB9-CEF5-E4BD23867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470295"/>
              </p:ext>
            </p:extLst>
          </p:nvPr>
        </p:nvGraphicFramePr>
        <p:xfrm>
          <a:off x="273075" y="278864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Arial" panose="020B0604020202020204" pitchFamily="34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34644B4-D109-A5F9-C758-A754D9C84516}"/>
              </a:ext>
            </a:extLst>
          </p:cNvPr>
          <p:cNvSpPr txBox="1"/>
          <p:nvPr/>
        </p:nvSpPr>
        <p:spPr>
          <a:xfrm>
            <a:off x="273075" y="1393388"/>
            <a:ext cx="1142731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:</a:t>
            </a:r>
          </a:p>
          <a:p>
            <a:pPr>
              <a:buNone/>
            </a:pPr>
            <a:endParaRPr lang="en-US" sz="2400" b="1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Managing large volumes of files and directories manually across systems is time-consuming and error-prone. Identifying specific content within distributed storage environments can be difficult and inefficient without automation.</a:t>
            </a:r>
          </a:p>
          <a:p>
            <a:pPr>
              <a:buNone/>
            </a:pPr>
            <a:endParaRPr lang="en-US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Content Discovery &amp; Inspection Utility (DCDIU)</a:t>
            </a:r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recursively traverse directories, search for specific keywords within files, and inspect file contents efficiently from a centralized interface.</a:t>
            </a:r>
          </a:p>
          <a:p>
            <a:pPr>
              <a:buNone/>
            </a:pPr>
            <a:endParaRPr lang="en-US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uses a C++ POSIX-based backend with a modular client-server architecture to provide reliable directory scanning, deep content analysis, structured logging, and robust error handling across Unix-like systems.</a:t>
            </a:r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93D02B-FEE4-BD12-A289-7ED3F7147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AAA885F-8722-A9FE-B4CF-43C0853568D6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FC095A-99EA-8D7D-C283-C26CA7422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531560"/>
              </p:ext>
            </p:extLst>
          </p:nvPr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Arial" panose="020B0604020202020204" pitchFamily="34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10B0346-BE21-A6C0-069B-9E38D36A75DF}"/>
              </a:ext>
            </a:extLst>
          </p:cNvPr>
          <p:cNvSpPr txBox="1"/>
          <p:nvPr/>
        </p:nvSpPr>
        <p:spPr>
          <a:xfrm>
            <a:off x="266819" y="1445452"/>
            <a:ext cx="1142731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</a:t>
            </a:r>
          </a:p>
          <a:p>
            <a:pPr>
              <a:buNone/>
            </a:pPr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modern computing environments, organizations and system administrators face several challenges, such as:</a:t>
            </a:r>
          </a:p>
          <a:p>
            <a:pPr>
              <a:buNone/>
            </a:pPr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Difficulty in locating specific files within deeply nested directory structures.</a:t>
            </a:r>
            <a:b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Time-consuming manual inspection of large volumes of files to find relevant content.</a:t>
            </a:r>
            <a:b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Inefficient keyword searching across distributed or decentralized storage systems.</a:t>
            </a:r>
            <a:b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Lack of centralized tools to perform recursive directory traversal and deep content analysis.</a:t>
            </a:r>
            <a:b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Limited visibility into file contents without opening each file individually.</a:t>
            </a:r>
            <a:b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A robust, automated utility is essential to ensure efficient, accurate, and scalable content discovery across systems.</a:t>
            </a:r>
          </a:p>
        </p:txBody>
      </p:sp>
    </p:spTree>
    <p:extLst>
      <p:ext uri="{BB962C8B-B14F-4D97-AF65-F5344CB8AC3E}">
        <p14:creationId xmlns:p14="http://schemas.microsoft.com/office/powerpoint/2010/main" val="1937542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11AAB-1A4F-A2D3-74E6-F2DAAA4E0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580B2B-E864-8C60-FEC0-32553B03F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EDA1DE8-6180-4635-2B36-0591E2AB78AD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F12046-3DFC-B661-83BD-823B1BE36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070713"/>
              </p:ext>
            </p:extLst>
          </p:nvPr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Arial" panose="020B0604020202020204" pitchFamily="34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759FDE0-2D6B-8F3B-DDE2-D35E3751CCD1}"/>
              </a:ext>
            </a:extLst>
          </p:cNvPr>
          <p:cNvSpPr txBox="1"/>
          <p:nvPr/>
        </p:nvSpPr>
        <p:spPr>
          <a:xfrm>
            <a:off x="266819" y="1514278"/>
            <a:ext cx="1142731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:</a:t>
            </a:r>
          </a:p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➔ </a:t>
            </a:r>
            <a:r>
              <a:rPr lang="en-US" sz="2400" b="1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Objectives</a:t>
            </a:r>
            <a:endParaRPr lang="en-US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Develop a secure command-line utility for recursive directory traversal and content discovery.</a:t>
            </a:r>
            <a:b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Enable searching and inspection of files using keyword-based deep scanning.</a:t>
            </a:r>
            <a:b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Provide a centralized system to manage file discovery and inspection efficiently.</a:t>
            </a:r>
          </a:p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➔ </a:t>
            </a:r>
            <a:r>
              <a:rPr lang="en-US" sz="2400" b="1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Secondary Objectives</a:t>
            </a:r>
            <a:endParaRPr lang="en-US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Ensure portability across Unix-like and POSIX-compliant systems.</a:t>
            </a:r>
            <a:b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Maintain structured logging for monitoring and debugging.</a:t>
            </a:r>
            <a:b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Support multi-client handling using a modular client-server architecture.</a:t>
            </a:r>
          </a:p>
          <a:p>
            <a:pPr>
              <a:buNone/>
            </a:pPr>
            <a:endParaRPr lang="en-US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338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A6398-C209-2009-52D9-B95FD66E1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09E43A-7D64-E062-DB5A-424A7BDF3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41972D0A-BB4D-F5A5-432C-ACDE57506B7E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437F34-D793-C2EE-C757-34B4A5835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85450"/>
              </p:ext>
            </p:extLst>
          </p:nvPr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Arial" panose="020B0604020202020204" pitchFamily="34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5AB60F3-B4A5-7CC3-04D5-86276AAF537F}"/>
              </a:ext>
            </a:extLst>
          </p:cNvPr>
          <p:cNvSpPr txBox="1"/>
          <p:nvPr/>
        </p:nvSpPr>
        <p:spPr>
          <a:xfrm>
            <a:off x="266819" y="1382855"/>
            <a:ext cx="1142731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Client–Server Architecture</a:t>
            </a:r>
          </a:p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separation between request initiation (client) and processing (server).</a:t>
            </a:r>
          </a:p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Remote Directory Traversal </a:t>
            </a:r>
          </a:p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 traversal of directories from a configurable base path.</a:t>
            </a:r>
          </a:p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Deep Content Discovery</a:t>
            </a:r>
          </a:p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Scans file contents for specific strings or patterns across all traversed files.</a:t>
            </a:r>
          </a:p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File Inspection Mode</a:t>
            </a:r>
          </a:p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targeted inspection and retrieval of file content using absolute paths.</a:t>
            </a:r>
          </a:p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Structured Response Handling  </a:t>
            </a:r>
          </a:p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sends processed results back to the client in a readable format.</a:t>
            </a:r>
          </a:p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Robust Error Handling &amp; Logging</a:t>
            </a:r>
          </a:p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exception handling and logging for reliability.</a:t>
            </a:r>
          </a:p>
        </p:txBody>
      </p:sp>
    </p:spTree>
    <p:extLst>
      <p:ext uri="{BB962C8B-B14F-4D97-AF65-F5344CB8AC3E}">
        <p14:creationId xmlns:p14="http://schemas.microsoft.com/office/powerpoint/2010/main" val="1384579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7D815-22F7-DEB5-E2A3-853B58488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94AB7D-8296-CAC9-E987-9346B31AC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47048C20-5B7D-098F-9B8F-59991E7BADD7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38EBDB-0D20-0C4B-8921-E2867075933E}"/>
              </a:ext>
            </a:extLst>
          </p:cNvPr>
          <p:cNvGraphicFramePr>
            <a:graphicFrameLocks noGrp="1"/>
          </p:cNvGraphicFramePr>
          <p:nvPr/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Arial" panose="020B0604020202020204" pitchFamily="34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987CE72-84C7-C13D-0C39-87A671F7B673}"/>
              </a:ext>
            </a:extLst>
          </p:cNvPr>
          <p:cNvSpPr txBox="1"/>
          <p:nvPr/>
        </p:nvSpPr>
        <p:spPr>
          <a:xfrm>
            <a:off x="266819" y="1382855"/>
            <a:ext cx="1142731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–Server Communication Feature:</a:t>
            </a:r>
          </a:p>
          <a:p>
            <a:r>
              <a:rPr lang="en-IN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feature enables communication between the client and the server using </a:t>
            </a:r>
            <a:r>
              <a:rPr lang="en-IN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 sockets</a:t>
            </a:r>
            <a:r>
              <a:rPr lang="en-IN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It forms the foundation of all other system features.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server shall listen for incoming client connections.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server shall prompt the client for authentication credentials (username and password).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client shall provide valid login credentials to the server.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server shall authenticate the client using secure hashed password verification.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authenticated clients shall be allowed to execute commands.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client shall send text-based commands to the server after successful authentication.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890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DD221-E294-18C8-D5F8-C97DDD9B1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952A75-CB1B-3D5B-805E-84BEC6DC6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5A83BEC-2BF9-0E94-31D1-C030B4C5C452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294965-65C1-739B-0E7D-3136EE2CFAB6}"/>
              </a:ext>
            </a:extLst>
          </p:cNvPr>
          <p:cNvGraphicFramePr>
            <a:graphicFrameLocks noGrp="1"/>
          </p:cNvGraphicFramePr>
          <p:nvPr/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Arial" panose="020B0604020202020204" pitchFamily="34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EA85406-424C-CFBD-20B7-5AB64177098F}"/>
              </a:ext>
            </a:extLst>
          </p:cNvPr>
          <p:cNvSpPr txBox="1"/>
          <p:nvPr/>
        </p:nvSpPr>
        <p:spPr>
          <a:xfrm>
            <a:off x="266819" y="1382855"/>
            <a:ext cx="1142731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server shall process commands and send responses back to the client.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connection shall remain active until the client issues an exit command..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connection shall remain active until the client issues an exit command.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command strings (e.g., TRAVERSE, SEARCH, INSPECT, EXIT)</a:t>
            </a:r>
          </a:p>
          <a:p>
            <a:pPr lvl="0"/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Socket creation and connection establishment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 transmission and reception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 parsing on the server side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036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75E71-413C-3988-2013-D0CE2256B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B6F754-2887-A2DE-BE38-83510DE2B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6C65A74-1D9F-7FB5-D7FA-35C61973BA60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FA246C-322C-F32C-4CD0-3BF814BB4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33916"/>
              </p:ext>
            </p:extLst>
          </p:nvPr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433BD7-586A-29D4-4D23-ABB6E95C7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608148"/>
              </p:ext>
            </p:extLst>
          </p:nvPr>
        </p:nvGraphicFramePr>
        <p:xfrm>
          <a:off x="266819" y="1425677"/>
          <a:ext cx="11427312" cy="4745774"/>
        </p:xfrm>
        <a:graphic>
          <a:graphicData uri="http://schemas.openxmlformats.org/drawingml/2006/table">
            <a:tbl>
              <a:tblPr/>
              <a:tblGrid>
                <a:gridCol w="3406863">
                  <a:extLst>
                    <a:ext uri="{9D8B030D-6E8A-4147-A177-3AD203B41FA5}">
                      <a16:colId xmlns:a16="http://schemas.microsoft.com/office/drawing/2014/main" val="4221891790"/>
                    </a:ext>
                  </a:extLst>
                </a:gridCol>
                <a:gridCol w="8020449">
                  <a:extLst>
                    <a:ext uri="{9D8B030D-6E8A-4147-A177-3AD203B41FA5}">
                      <a16:colId xmlns:a16="http://schemas.microsoft.com/office/drawing/2014/main" val="3577229132"/>
                    </a:ext>
                  </a:extLst>
                </a:gridCol>
              </a:tblGrid>
              <a:tr h="3117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Requirement Tag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Requirement Description</a:t>
                      </a:r>
                    </a:p>
                  </a:txBody>
                  <a:tcPr marL="4994" marR="4994" marT="49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070814"/>
                  </a:ext>
                </a:extLst>
              </a:tr>
              <a:tr h="3117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Functional Requirements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945978"/>
                  </a:ext>
                </a:extLst>
              </a:tr>
              <a:tr h="4598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87CC"/>
                          </a:solidFill>
                          <a:effectLst/>
                          <a:latin typeface="Arial" panose="020B0604020202020204" pitchFamily="34" charset="0"/>
                        </a:rPr>
                        <a:t>DCDIU_FR_01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87CC"/>
                          </a:solidFill>
                          <a:effectLst/>
                          <a:latin typeface="Arial" panose="020B0604020202020204" pitchFamily="34" charset="0"/>
                        </a:rPr>
                        <a:t>The utility shall be capable of performing recursive directory traversals on a remote target server, with an optional configurable base path.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228816"/>
                  </a:ext>
                </a:extLst>
              </a:tr>
              <a:tr h="627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87CC"/>
                          </a:solidFill>
                          <a:effectLst/>
                          <a:latin typeface="Arial" panose="020B0604020202020204" pitchFamily="34" charset="0"/>
                        </a:rPr>
                        <a:t>DCDIU_FR_02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87CC"/>
                          </a:solidFill>
                          <a:effectLst/>
                          <a:latin typeface="Arial" panose="020B0604020202020204" pitchFamily="34" charset="0"/>
                        </a:rPr>
                        <a:t>DCDIU must support deep-content discovery by scanning for specific strings, phrases, or patterns across all files in the target directory and returning a comprehensive match list.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042419"/>
                  </a:ext>
                </a:extLst>
              </a:tr>
              <a:tr h="627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87CC"/>
                          </a:solidFill>
                          <a:effectLst/>
                          <a:latin typeface="Arial" panose="020B0604020202020204" pitchFamily="34" charset="0"/>
                        </a:rPr>
                        <a:t>DCDIU_FR_03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87CC"/>
                          </a:solidFill>
                          <a:effectLst/>
                          <a:latin typeface="Arial" panose="020B0604020202020204" pitchFamily="34" charset="0"/>
                        </a:rPr>
                        <a:t>The system shall allow for targeted retrieval of specific files when an absolute path is provided, enabling the user to view the raw data stream.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786151"/>
                  </a:ext>
                </a:extLst>
              </a:tr>
              <a:tr h="627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87CC"/>
                          </a:solidFill>
                          <a:effectLst/>
                          <a:latin typeface="Arial" panose="020B0604020202020204" pitchFamily="34" charset="0"/>
                        </a:rPr>
                        <a:t>DCDIU_FR_04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87CC"/>
                          </a:solidFill>
                          <a:effectLst/>
                          <a:latin typeface="Arial" panose="020B0604020202020204" pitchFamily="34" charset="0"/>
                        </a:rPr>
                        <a:t>The utility must provide a 'Content Inspection' mode, allowing users to select and display the full data contents of any file identified during the discovery phase.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950566"/>
                  </a:ext>
                </a:extLst>
              </a:tr>
              <a:tr h="627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87CC"/>
                          </a:solidFill>
                          <a:effectLst/>
                          <a:latin typeface="Arial" panose="020B0604020202020204" pitchFamily="34" charset="0"/>
                        </a:rPr>
                        <a:t>DCDIU_FR_05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87CC"/>
                          </a:solidFill>
                          <a:effectLst/>
                          <a:latin typeface="Arial" panose="020B0604020202020204" pitchFamily="34" charset="0"/>
                        </a:rPr>
                        <a:t>The framework shall implement an exception handling module to display descriptive system messages when traversal or discovery operations fail.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179868"/>
                  </a:ext>
                </a:extLst>
              </a:tr>
              <a:tr h="627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87CC"/>
                          </a:solidFill>
                          <a:effectLst/>
                          <a:latin typeface="Arial" panose="020B0604020202020204" pitchFamily="34" charset="0"/>
                        </a:rPr>
                        <a:t>DCDIU_FR_06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87CC"/>
                          </a:solidFill>
                          <a:effectLst/>
                          <a:latin typeface="Arial" panose="020B0604020202020204" pitchFamily="34" charset="0"/>
                        </a:rPr>
                        <a:t>A command-line driven interface (CLI) shall be provided, featuring a structured menu for all supported discovery and inspection operations.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310173"/>
                  </a:ext>
                </a:extLst>
              </a:tr>
              <a:tr h="4598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87CC"/>
                          </a:solidFill>
                          <a:effectLst/>
                          <a:latin typeface="Arial" panose="020B0604020202020204" pitchFamily="34" charset="0"/>
                        </a:rPr>
                        <a:t>DCDIU_FR_07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87CC"/>
                          </a:solidFill>
                          <a:effectLst/>
                          <a:latin typeface="Arial" panose="020B0604020202020204" pitchFamily="34" charset="0"/>
                        </a:rPr>
                        <a:t>The system must integrate a diagnostic logging engine with four standardized severity levels: FATAL, INFO, WARNING, and DEBUG.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46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012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C4CBC-2245-A265-A4DD-2ED71F218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8434DE-7317-BBBD-E515-0735A0D2F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1AA7A99-D297-A4DD-40BB-3F7FB5C3E061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934720-31CA-04FA-B987-0DA96116B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017865"/>
              </p:ext>
            </p:extLst>
          </p:nvPr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4401C8-FD84-E371-6F43-74750326D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733976"/>
              </p:ext>
            </p:extLst>
          </p:nvPr>
        </p:nvGraphicFramePr>
        <p:xfrm>
          <a:off x="266819" y="1777452"/>
          <a:ext cx="11354910" cy="2450419"/>
        </p:xfrm>
        <a:graphic>
          <a:graphicData uri="http://schemas.openxmlformats.org/drawingml/2006/table">
            <a:tbl>
              <a:tblPr/>
              <a:tblGrid>
                <a:gridCol w="3356908">
                  <a:extLst>
                    <a:ext uri="{9D8B030D-6E8A-4147-A177-3AD203B41FA5}">
                      <a16:colId xmlns:a16="http://schemas.microsoft.com/office/drawing/2014/main" val="326700608"/>
                    </a:ext>
                  </a:extLst>
                </a:gridCol>
                <a:gridCol w="7998002">
                  <a:extLst>
                    <a:ext uri="{9D8B030D-6E8A-4147-A177-3AD203B41FA5}">
                      <a16:colId xmlns:a16="http://schemas.microsoft.com/office/drawing/2014/main" val="438604764"/>
                    </a:ext>
                  </a:extLst>
                </a:gridCol>
              </a:tblGrid>
              <a:tr h="704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Non-Functional Requirements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Requirement Description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943810"/>
                  </a:ext>
                </a:extLst>
              </a:tr>
              <a:tr h="10172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87CC"/>
                          </a:solidFill>
                          <a:effectLst/>
                          <a:latin typeface="Arial" panose="020B0604020202020204" pitchFamily="34" charset="0"/>
                        </a:rPr>
                        <a:t>DCDIU_NF_01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87CC"/>
                          </a:solidFill>
                          <a:effectLst/>
                          <a:latin typeface="Arial" panose="020B0604020202020204" pitchFamily="34" charset="0"/>
                        </a:rPr>
                        <a:t>Portability: The utility shall be compatible with all standard Unix-like and POSIX-compliant Operating Systems.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636773"/>
                  </a:ext>
                </a:extLst>
              </a:tr>
              <a:tr h="7287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87CC"/>
                          </a:solidFill>
                          <a:effectLst/>
                          <a:latin typeface="Arial" panose="020B0604020202020204" pitchFamily="34" charset="0"/>
                        </a:rPr>
                        <a:t>DCDIU_NF_02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87CC"/>
                          </a:solidFill>
                          <a:effectLst/>
                          <a:latin typeface="Arial" panose="020B0604020202020204" pitchFamily="34" charset="0"/>
                        </a:rPr>
                        <a:t>Modularity: The system architecture shall utilize well-defined interfaces to ensure scalability and the addition of future data-parsing modules.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934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8559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56AED-88B0-E146-E80C-5015F6E15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FB9DBF-5C92-6D72-A02E-2536D9E1B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C2719B3F-552D-D229-E02A-E810F6E2CABF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1E6832-6A4B-CE4A-F917-5BDCF5102CEB}"/>
              </a:ext>
            </a:extLst>
          </p:cNvPr>
          <p:cNvGraphicFramePr>
            <a:graphicFrameLocks noGrp="1"/>
          </p:cNvGraphicFramePr>
          <p:nvPr/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A96A6A-8605-3F9D-2416-13EDCD2F0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18469"/>
              </p:ext>
            </p:extLst>
          </p:nvPr>
        </p:nvGraphicFramePr>
        <p:xfrm>
          <a:off x="838200" y="2064241"/>
          <a:ext cx="10515600" cy="32918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44096185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041641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12676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Requirement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Implementation Module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139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187CC"/>
                          </a:solidFill>
                        </a:rPr>
                        <a:t>DCDIU_FR_01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Client–Server Connection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TCP Socket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584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DCDIU_FR_02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Recursive Directory Traversal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DirectoryTraverser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080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187CC"/>
                          </a:solidFill>
                        </a:rPr>
                        <a:t>DCDIU_FR_03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Deep Content Scanning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ContentScanner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93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DCDIU_FR_04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187CC"/>
                          </a:solidFill>
                        </a:rPr>
                        <a:t>File Inspection by Absolute 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FileInspector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656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DCDIU_FR_05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Request Parsing &amp; Delegation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ClientHandler /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033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DCDIU_FR_06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Structured Response Delivery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Server → Client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352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DCDIU_FR_07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Error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ExceptionHandler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005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DCDIU_FR_08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187CC"/>
                          </a:solidFill>
                        </a:rPr>
                        <a:t>Logging &amp; Observability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187CC"/>
                          </a:solidFill>
                        </a:rPr>
                        <a:t>Logger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6765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62F590-2854-079B-8BDD-EB8CBD995374}"/>
              </a:ext>
            </a:extLst>
          </p:cNvPr>
          <p:cNvSpPr txBox="1"/>
          <p:nvPr/>
        </p:nvSpPr>
        <p:spPr>
          <a:xfrm>
            <a:off x="266818" y="1420547"/>
            <a:ext cx="5052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187CC"/>
                </a:solidFill>
              </a:rPr>
              <a:t>Functional Requirements Mapping:</a:t>
            </a:r>
          </a:p>
        </p:txBody>
      </p:sp>
    </p:spTree>
    <p:extLst>
      <p:ext uri="{BB962C8B-B14F-4D97-AF65-F5344CB8AC3E}">
        <p14:creationId xmlns:p14="http://schemas.microsoft.com/office/powerpoint/2010/main" val="2658535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DF1B0-EBC6-A2F1-9D2F-0B4A79CF9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5524D0-D1BE-DED7-FE2F-3F80DD5D1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3096E06-0720-E43B-1556-A87E5ABAC400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975246-21ED-9D6B-1C94-0639B8FB65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326807"/>
              </p:ext>
            </p:extLst>
          </p:nvPr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20D8E9-61FF-1973-AEE4-A15A8DB277F7}"/>
              </a:ext>
            </a:extLst>
          </p:cNvPr>
          <p:cNvSpPr txBox="1"/>
          <p:nvPr/>
        </p:nvSpPr>
        <p:spPr>
          <a:xfrm>
            <a:off x="913051" y="1225689"/>
            <a:ext cx="475272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Module :</a:t>
            </a:r>
          </a:p>
          <a:p>
            <a:pPr>
              <a:buNone/>
            </a:pPr>
            <a:r>
              <a:rPr lang="en-US" b="1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Directory Traversal Module:</a:t>
            </a:r>
          </a:p>
          <a:p>
            <a:pPr>
              <a:buNone/>
            </a:pPr>
            <a: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Recursive scanning of directories and subdirectories</a:t>
            </a:r>
            <a:b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Collect and manage file paths dynamically</a:t>
            </a:r>
          </a:p>
          <a:p>
            <a:pPr>
              <a:buNone/>
            </a:pPr>
            <a:endParaRPr lang="en-US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Content Scanning Module:</a:t>
            </a:r>
          </a:p>
          <a:p>
            <a:pPr>
              <a:buNone/>
            </a:pPr>
            <a: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Search for specific keywords within files</a:t>
            </a:r>
            <a:b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Perform deep content discovery across all scanned files</a:t>
            </a:r>
            <a:b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File Inspection Module:</a:t>
            </a:r>
          </a:p>
          <a:p>
            <a:pPr>
              <a:buNone/>
            </a:pPr>
            <a: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Display full file content on request</a:t>
            </a:r>
            <a:b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Enable detailed inspection of selected files</a:t>
            </a:r>
          </a:p>
          <a:p>
            <a:pPr>
              <a:buNone/>
            </a:pPr>
            <a:endParaRPr lang="en-US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Logging &amp; Exception Module:</a:t>
            </a:r>
          </a:p>
          <a:p>
            <a:pPr>
              <a:buNone/>
            </a:pPr>
            <a: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Maintain structured logs (INFO, WARNING, DEBUG, FATAL)</a:t>
            </a:r>
            <a:b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Handle system errors gracefully using </a:t>
            </a:r>
            <a:r>
              <a:rPr lang="en-US" dirty="0" err="1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ExceptionHandler</a:t>
            </a:r>
            <a:endParaRPr lang="en-US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BB5CB5-CFA4-6A22-0D1F-65523652F7EA}"/>
              </a:ext>
            </a:extLst>
          </p:cNvPr>
          <p:cNvSpPr txBox="1"/>
          <p:nvPr/>
        </p:nvSpPr>
        <p:spPr>
          <a:xfrm>
            <a:off x="5665778" y="1305788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Multi-Client Handling Module:</a:t>
            </a:r>
          </a:p>
          <a:p>
            <a:pPr>
              <a:buNone/>
            </a:pPr>
            <a: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Handle multiple client connections concurrently</a:t>
            </a:r>
            <a:b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Manage independent client requests using threading</a:t>
            </a:r>
          </a:p>
          <a:p>
            <a:pPr>
              <a:buNone/>
            </a:pPr>
            <a:b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Communication Module:</a:t>
            </a:r>
          </a:p>
          <a:p>
            <a:pPr>
              <a:buNone/>
            </a:pPr>
            <a: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Establish client-server socket connection</a:t>
            </a:r>
            <a:b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Exchange directory path and keyword data securely</a:t>
            </a:r>
          </a:p>
          <a:p>
            <a:pPr>
              <a:buNone/>
            </a:pPr>
            <a:b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System Monitoring Module:</a:t>
            </a:r>
          </a:p>
          <a:p>
            <a:pPr>
              <a:buNone/>
            </a:pPr>
            <a: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Maintain detailed activity logs for auditing</a:t>
            </a:r>
            <a:b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Monitor execution status and error reporting</a:t>
            </a:r>
          </a:p>
        </p:txBody>
      </p:sp>
    </p:spTree>
    <p:extLst>
      <p:ext uri="{BB962C8B-B14F-4D97-AF65-F5344CB8AC3E}">
        <p14:creationId xmlns:p14="http://schemas.microsoft.com/office/powerpoint/2010/main" val="860216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55994-5A84-DEBD-4868-C241A82B1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449E12-0D33-383A-109E-9D43559FD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586499A-8DF9-7E08-4EAB-B6D59D72D81C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C8E57A-36DD-F101-E87A-360175226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459099"/>
              </p:ext>
            </p:extLst>
          </p:nvPr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7779DD6-80DA-0C33-5468-A08BB2A17D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1"/>
          <a:stretch>
            <a:fillRect/>
          </a:stretch>
        </p:blipFill>
        <p:spPr bwMode="auto">
          <a:xfrm>
            <a:off x="1868130" y="1518920"/>
            <a:ext cx="8701548" cy="47575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3DDCE6-AD37-B619-A996-583E928F37CC}"/>
              </a:ext>
            </a:extLst>
          </p:cNvPr>
          <p:cNvSpPr txBox="1"/>
          <p:nvPr/>
        </p:nvSpPr>
        <p:spPr>
          <a:xfrm>
            <a:off x="266819" y="1288087"/>
            <a:ext cx="3508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  <a:endParaRPr lang="en-IN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650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B7B35-F43E-4580-9C2F-9234CCD07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361E55-E8D6-CF48-EADF-39411A905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E20009A-637A-A773-2E32-E7B487087BF6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C3121B-30C4-6B55-A731-7C5F148FFA80}"/>
              </a:ext>
            </a:extLst>
          </p:cNvPr>
          <p:cNvGraphicFramePr>
            <a:graphicFrameLocks noGrp="1"/>
          </p:cNvGraphicFramePr>
          <p:nvPr/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218F640-BECE-0B09-2CDD-23B5BDF7E0F5}"/>
              </a:ext>
            </a:extLst>
          </p:cNvPr>
          <p:cNvSpPr txBox="1"/>
          <p:nvPr/>
        </p:nvSpPr>
        <p:spPr>
          <a:xfrm>
            <a:off x="266819" y="1288087"/>
            <a:ext cx="3508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  <a:endParaRPr lang="en-IN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EE28E6-2BE1-7B96-402B-B54E23E309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20" y="1288087"/>
            <a:ext cx="11427312" cy="4914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2061BA-92AE-45CE-732D-C1105C3D26EC}"/>
              </a:ext>
            </a:extLst>
          </p:cNvPr>
          <p:cNvSpPr txBox="1"/>
          <p:nvPr/>
        </p:nvSpPr>
        <p:spPr>
          <a:xfrm>
            <a:off x="384132" y="1307331"/>
            <a:ext cx="3274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1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IN" sz="2400" dirty="0">
              <a:solidFill>
                <a:srgbClr val="01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488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17864-2C52-DFF2-F126-5999F4301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32933F-D85A-B6F6-1986-60163B56E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3BC1B05-8E5E-6810-D4C2-951FDB1D43FF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BEE3AE-0E51-37DA-3E93-DB39AEB8CFEB}"/>
              </a:ext>
            </a:extLst>
          </p:cNvPr>
          <p:cNvGraphicFramePr>
            <a:graphicFrameLocks noGrp="1"/>
          </p:cNvGraphicFramePr>
          <p:nvPr/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4CBBDCB-FE56-DE3C-2CAE-0088B0FFE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474" y="1926359"/>
            <a:ext cx="10335052" cy="3657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70D4DD-AD6A-C95F-2EE4-37F58C80642F}"/>
              </a:ext>
            </a:extLst>
          </p:cNvPr>
          <p:cNvSpPr txBox="1"/>
          <p:nvPr/>
        </p:nvSpPr>
        <p:spPr>
          <a:xfrm>
            <a:off x="266819" y="1288087"/>
            <a:ext cx="3508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Use-Case Diagram:</a:t>
            </a:r>
            <a:endParaRPr lang="en-IN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739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EA5F7-4027-08D3-09F4-5839D526C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7810D5-DA5F-7848-5A65-AEA1691A1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907AC47-79D6-4566-C031-3DC7CC688304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4B853A-3EC4-5501-E75C-CC2B2F90769A}"/>
              </a:ext>
            </a:extLst>
          </p:cNvPr>
          <p:cNvGraphicFramePr>
            <a:graphicFrameLocks noGrp="1"/>
          </p:cNvGraphicFramePr>
          <p:nvPr/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FC32F1D-24E8-D1E9-D50E-8C3276B2DCFC}"/>
              </a:ext>
            </a:extLst>
          </p:cNvPr>
          <p:cNvSpPr txBox="1"/>
          <p:nvPr/>
        </p:nvSpPr>
        <p:spPr>
          <a:xfrm>
            <a:off x="589935" y="1343171"/>
            <a:ext cx="4714642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Instructions</a:t>
            </a:r>
          </a:p>
          <a:p>
            <a:endParaRPr lang="en-US" dirty="0"/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 Prerequisites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Linux / WSL / macOS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g++ (C++17 compatible)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make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OpenSSL Development Library</a:t>
            </a:r>
          </a:p>
          <a:p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 OpenSSL: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bash</a:t>
            </a:r>
          </a:p>
          <a:p>
            <a:r>
              <a:rPr lang="en-US" sz="24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apt update</a:t>
            </a:r>
          </a:p>
          <a:p>
            <a:r>
              <a:rPr lang="en-US" sz="24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apt install </a:t>
            </a:r>
            <a:r>
              <a:rPr lang="en-US" sz="24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libssl</a:t>
            </a: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-dev</a:t>
            </a:r>
            <a:b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endParaRPr lang="en-IN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456C73-3F24-9474-F887-7A0E73F58ADA}"/>
              </a:ext>
            </a:extLst>
          </p:cNvPr>
          <p:cNvSpPr txBox="1"/>
          <p:nvPr/>
        </p:nvSpPr>
        <p:spPr>
          <a:xfrm>
            <a:off x="5665778" y="1436518"/>
            <a:ext cx="522990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 Build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From the project root directory: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bash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make clean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make</a:t>
            </a:r>
            <a:b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generates: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build/server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build/client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endParaRPr lang="en-IN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56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CDE85-2015-18EA-FF31-5E3B02C7A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72F3BA-EE00-6F13-6097-96686D164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C932276-EE54-5DCA-B6FD-F4CC38B1D716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465384-6E0E-144D-6C1B-82B62679537A}"/>
              </a:ext>
            </a:extLst>
          </p:cNvPr>
          <p:cNvGraphicFramePr>
            <a:graphicFrameLocks noGrp="1"/>
          </p:cNvGraphicFramePr>
          <p:nvPr/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51BE35C-193D-B41E-2BB1-A4426B567BAC}"/>
              </a:ext>
            </a:extLst>
          </p:cNvPr>
          <p:cNvSpPr txBox="1"/>
          <p:nvPr/>
        </p:nvSpPr>
        <p:spPr>
          <a:xfrm>
            <a:off x="589935" y="1343171"/>
            <a:ext cx="489646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Running the Application</a:t>
            </a:r>
          </a:p>
          <a:p>
            <a:endParaRPr lang="en-US" dirty="0"/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 Start the Server</a:t>
            </a:r>
          </a:p>
          <a:p>
            <a:endParaRPr lang="en-US" dirty="0"/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Terminal 1:</a:t>
            </a:r>
          </a:p>
          <a:p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bash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./build/server</a:t>
            </a:r>
            <a:b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server starts listening on the configured port. </a:t>
            </a:r>
          </a:p>
          <a:p>
            <a:endParaRPr lang="en-US" dirty="0"/>
          </a:p>
          <a:p>
            <a:endParaRPr lang="en-IN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A711D-09EE-92C5-7876-DF03E7E82543}"/>
              </a:ext>
            </a:extLst>
          </p:cNvPr>
          <p:cNvSpPr txBox="1"/>
          <p:nvPr/>
        </p:nvSpPr>
        <p:spPr>
          <a:xfrm>
            <a:off x="5809516" y="1233816"/>
            <a:ext cx="489646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sz="2400" dirty="0"/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 Start Clients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Terminal 2 / Terminal 3:</a:t>
            </a:r>
            <a:b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bash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./build/client</a:t>
            </a:r>
            <a:b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clients can connect simultaneously.</a:t>
            </a:r>
          </a:p>
          <a:p>
            <a:endParaRPr lang="en-IN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491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CD021-F12A-8784-2E54-5D9EBF259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F22CF1-50F4-39CE-C749-52A585E7B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02966E9-EF3C-FB99-4528-24749D2FA24F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ED7207-3BAF-6ECA-52EB-D57CBCF65188}"/>
              </a:ext>
            </a:extLst>
          </p:cNvPr>
          <p:cNvGraphicFramePr>
            <a:graphicFrameLocks noGrp="1"/>
          </p:cNvGraphicFramePr>
          <p:nvPr/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B66B173-D2EA-32AE-84EB-997E493A2084}"/>
              </a:ext>
            </a:extLst>
          </p:cNvPr>
          <p:cNvSpPr txBox="1"/>
          <p:nvPr/>
        </p:nvSpPr>
        <p:spPr>
          <a:xfrm>
            <a:off x="589935" y="1343171"/>
            <a:ext cx="1080150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Use the Application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section describes the actual execution flow and output of the DCDIU system as observed during testing.</a:t>
            </a:r>
          </a:p>
          <a:p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 Starting the Client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the client application using: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bash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./build/client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successful connection, the client prompts for registration or login.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Username: </a:t>
            </a:r>
            <a:r>
              <a:rPr lang="en-US" sz="24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Mershika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Password: (Enter Your password)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 created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confirms that the authentication module is working correctly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</a:t>
            </a:r>
          </a:p>
          <a:p>
            <a:endParaRPr lang="en-IN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528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E51C7-64BA-48D1-D31D-6DDDFCDA5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C17CC2-E626-2B88-4867-BC1613876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D50DD26-245C-A501-D79E-C5CCC97893E8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ACAFE5-42B0-F6D4-C2D1-79D709F0FD09}"/>
              </a:ext>
            </a:extLst>
          </p:cNvPr>
          <p:cNvGraphicFramePr>
            <a:graphicFrameLocks noGrp="1"/>
          </p:cNvGraphicFramePr>
          <p:nvPr/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02C7B86-1616-5ED5-F9B7-18D0ED6E09A7}"/>
              </a:ext>
            </a:extLst>
          </p:cNvPr>
          <p:cNvSpPr txBox="1"/>
          <p:nvPr/>
        </p:nvSpPr>
        <p:spPr>
          <a:xfrm>
            <a:off x="589935" y="1343171"/>
            <a:ext cx="1080150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 Main Menu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login, the client displays the main menu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Display Menu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Traverse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Search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Inspect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Exit</a:t>
            </a:r>
            <a:b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can select an option by entering the corresponding number.</a:t>
            </a:r>
          </a:p>
          <a:p>
            <a:b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671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52929-6666-4CB7-92A5-414E51D17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5EFCAD-D97A-729C-C701-1967397A8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848D97F-24DA-E834-C0F8-438B994DE373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753815-B078-374F-AB61-BF47D3BC3479}"/>
              </a:ext>
            </a:extLst>
          </p:cNvPr>
          <p:cNvGraphicFramePr>
            <a:graphicFrameLocks noGrp="1"/>
          </p:cNvGraphicFramePr>
          <p:nvPr/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35E1C4D-9082-C038-F2B7-72D44C078689}"/>
              </a:ext>
            </a:extLst>
          </p:cNvPr>
          <p:cNvSpPr txBox="1"/>
          <p:nvPr/>
        </p:nvSpPr>
        <p:spPr>
          <a:xfrm>
            <a:off x="589935" y="1343171"/>
            <a:ext cx="10801506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Directory Traversal (Option 1)</a:t>
            </a:r>
          </a:p>
          <a:p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the user selects option 1 (Traverse), the system requests a directory path.</a:t>
            </a:r>
          </a:p>
          <a:p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Choice: 1</a:t>
            </a:r>
          </a:p>
          <a:p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 directory path: /home/student/25SUB4508</a:t>
            </a:r>
          </a:p>
          <a:p>
            <a:endParaRPr lang="en-US" sz="20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server performs recursive traversal and sends the results to the client.</a:t>
            </a:r>
          </a:p>
          <a:p>
            <a:endParaRPr lang="en-US" sz="20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Output:</a:t>
            </a:r>
          </a:p>
          <a:p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Directory: /home/student/25SUB4508</a:t>
            </a:r>
          </a:p>
          <a:p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Directory: /home/student/25SUB4508/25sub4508_56117</a:t>
            </a:r>
          </a:p>
          <a:p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Directory: /home/student/25SUB4508/25sub4508_56117/Capstone</a:t>
            </a:r>
          </a:p>
          <a:p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File: /home/student/.../Custom_system_call_using_Dockerfile_1_.pdf</a:t>
            </a:r>
          </a:p>
          <a:p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File: /home/student/.../CA_SOFTWARE.pptx</a:t>
            </a:r>
          </a:p>
          <a:p>
            <a:endParaRPr lang="en-US" sz="20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confirms successful directory scanning and file detection.</a:t>
            </a:r>
          </a:p>
          <a:p>
            <a:endParaRPr lang="en-IN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508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CBDC1-1F26-0CBC-86C0-B635196C7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DE0064-F4A7-9FCA-68A7-3B4208808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F838658-8F19-6BAC-42BA-BD38EE8C826F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65DDEB-D4E3-2A0C-22DF-E18E7FD3DD6E}"/>
              </a:ext>
            </a:extLst>
          </p:cNvPr>
          <p:cNvGraphicFramePr>
            <a:graphicFrameLocks noGrp="1"/>
          </p:cNvGraphicFramePr>
          <p:nvPr/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C4B68DC-7891-717E-8FA0-63F256DA0FB2}"/>
              </a:ext>
            </a:extLst>
          </p:cNvPr>
          <p:cNvSpPr txBox="1"/>
          <p:nvPr/>
        </p:nvSpPr>
        <p:spPr>
          <a:xfrm>
            <a:off x="589935" y="1343171"/>
            <a:ext cx="1080150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 Search (Option 2)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search for specific files or keywords within the selected directory.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Select option 2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Enter search keyword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View matched results</a:t>
            </a:r>
          </a:p>
          <a:p>
            <a:endParaRPr lang="en-US" dirty="0"/>
          </a:p>
          <a:p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Inspect (Option 3)</a:t>
            </a:r>
            <a:endParaRPr lang="en-US" b="1" dirty="0"/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Inspect feature analyzes selected files and displays detailed information such as size, type, and content patterns.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Select option 3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Provide file or directory path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Review inspection report</a:t>
            </a:r>
          </a:p>
          <a:p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729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FB1C2-8817-765F-A375-DE4757A04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5A44F1-E9EF-E0B9-E4F0-8F472AEB6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2132D0EA-4BA0-C728-8AA0-C106A5C35486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86A679-4F04-23ED-8693-463D2C934C75}"/>
              </a:ext>
            </a:extLst>
          </p:cNvPr>
          <p:cNvGraphicFramePr>
            <a:graphicFrameLocks noGrp="1"/>
          </p:cNvGraphicFramePr>
          <p:nvPr/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0299524-12E3-C43F-CC54-7FAD8E468737}"/>
              </a:ext>
            </a:extLst>
          </p:cNvPr>
          <p:cNvSpPr txBox="1"/>
          <p:nvPr/>
        </p:nvSpPr>
        <p:spPr>
          <a:xfrm>
            <a:off x="589935" y="1343171"/>
            <a:ext cx="1080150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1.6 Exit (Option 4)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Safely terminates the client session and disconnects from the server.</a:t>
            </a:r>
          </a:p>
          <a:p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Commands</a:t>
            </a:r>
          </a:p>
          <a:p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    Description                         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/exit            Exit the client application       </a:t>
            </a:r>
          </a:p>
          <a:p>
            <a:endParaRPr lang="en-US" dirty="0"/>
          </a:p>
          <a:p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Logging &amp; Observability</a:t>
            </a:r>
          </a:p>
          <a:p>
            <a:endParaRPr lang="en-US" dirty="0"/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 files are stored in:</a:t>
            </a:r>
          </a:p>
          <a:p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-logs/username_pid.log</a:t>
            </a:r>
          </a:p>
          <a:p>
            <a:br>
              <a:rPr lang="en-US" dirty="0"/>
            </a:br>
            <a:endParaRPr lang="en-US" dirty="0"/>
          </a:p>
          <a:p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147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0AC4E-EE4A-AFED-3A1F-8E998E3C6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1CEA53-1CDA-2339-8E75-EFFF41211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3B53B33-4763-4989-FE52-C187E32EE9B5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0EA59F-6176-8620-9D83-8D8A291E1739}"/>
              </a:ext>
            </a:extLst>
          </p:cNvPr>
          <p:cNvGraphicFramePr>
            <a:graphicFrameLocks noGrp="1"/>
          </p:cNvGraphicFramePr>
          <p:nvPr/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8D78A8B-9EB6-4559-8CDD-22B83070C504}"/>
              </a:ext>
            </a:extLst>
          </p:cNvPr>
          <p:cNvSpPr txBox="1"/>
          <p:nvPr/>
        </p:nvSpPr>
        <p:spPr>
          <a:xfrm>
            <a:off x="266819" y="1288087"/>
            <a:ext cx="4629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 Connecting to the server</a:t>
            </a:r>
            <a:endParaRPr lang="en-IN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16E235-6A62-E4E3-42B5-BF4556E2D0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109" y="1792777"/>
            <a:ext cx="8101781" cy="444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463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92848-A566-F121-EB53-58B6C28FA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7EA9C8-11ED-B427-6E49-6C27BD486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4E848A41-569C-EB82-5BEB-121ECB452399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F40531-87AC-AE45-DCDD-AAF251A7000B}"/>
              </a:ext>
            </a:extLst>
          </p:cNvPr>
          <p:cNvGraphicFramePr>
            <a:graphicFrameLocks noGrp="1"/>
          </p:cNvGraphicFramePr>
          <p:nvPr/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8FAF433-FB07-69A3-E87F-BE30E3E0571A}"/>
              </a:ext>
            </a:extLst>
          </p:cNvPr>
          <p:cNvSpPr txBox="1"/>
          <p:nvPr/>
        </p:nvSpPr>
        <p:spPr>
          <a:xfrm>
            <a:off x="266819" y="1288087"/>
            <a:ext cx="3508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Choice 1)Traverse </a:t>
            </a:r>
            <a:endParaRPr lang="en-IN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58F9B4-F5F8-88C1-A7A5-8D8C9C37F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45109" y="1840894"/>
            <a:ext cx="8101781" cy="443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473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00C5D-E41D-342E-1DC5-9AE7AEC30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3B95E1-889A-EC67-7DAC-2FBEA3B31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CE24B06A-963C-F5DE-6E93-0E44F6DD6919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93C8A6-B55E-6EA0-4B97-18BD468A75F5}"/>
              </a:ext>
            </a:extLst>
          </p:cNvPr>
          <p:cNvGraphicFramePr>
            <a:graphicFrameLocks noGrp="1"/>
          </p:cNvGraphicFramePr>
          <p:nvPr/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F5EBC25-E4E1-2D7C-C1DC-F541A55994B8}"/>
              </a:ext>
            </a:extLst>
          </p:cNvPr>
          <p:cNvSpPr txBox="1"/>
          <p:nvPr/>
        </p:nvSpPr>
        <p:spPr>
          <a:xfrm>
            <a:off x="266819" y="1288087"/>
            <a:ext cx="3508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Choice 2) Search</a:t>
            </a:r>
            <a:endParaRPr lang="en-IN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3E1677-A220-B5AE-9F37-F1074EB006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45109" y="1804023"/>
            <a:ext cx="8101781" cy="44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83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02FC6-BF84-02B8-D29E-D004CDD8F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8E7DAB-3BCE-6713-FCB1-6390752C7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8F90CE3-7EC4-EDB4-8F04-421AB5D9A826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2026 - RPS Consulting all rights reserved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4F2112-C3CB-AF87-CEA7-52CC9BFB5632}"/>
              </a:ext>
            </a:extLst>
          </p:cNvPr>
          <p:cNvGraphicFramePr>
            <a:graphicFrameLocks noGrp="1"/>
          </p:cNvGraphicFramePr>
          <p:nvPr/>
        </p:nvGraphicFramePr>
        <p:xfrm>
          <a:off x="266819" y="250836"/>
          <a:ext cx="11427312" cy="982980"/>
        </p:xfrm>
        <a:graphic>
          <a:graphicData uri="http://schemas.openxmlformats.org/drawingml/2006/table">
            <a:tbl>
              <a:tblPr/>
              <a:tblGrid>
                <a:gridCol w="11427312">
                  <a:extLst>
                    <a:ext uri="{9D8B030D-6E8A-4147-A177-3AD203B41FA5}">
                      <a16:colId xmlns:a16="http://schemas.microsoft.com/office/drawing/2014/main" val="1073972921"/>
                    </a:ext>
                  </a:extLst>
                </a:gridCol>
              </a:tblGrid>
              <a:tr h="6552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187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Content Discovery &amp; Inspection Utility (DCDIU) Implementation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9248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26E68AD-4BE5-630D-F313-7C89E209BDC4}"/>
              </a:ext>
            </a:extLst>
          </p:cNvPr>
          <p:cNvSpPr txBox="1"/>
          <p:nvPr/>
        </p:nvSpPr>
        <p:spPr>
          <a:xfrm>
            <a:off x="266819" y="1288087"/>
            <a:ext cx="3508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87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Choice 3) Inspect</a:t>
            </a:r>
            <a:endParaRPr lang="en-IN" sz="2400" dirty="0">
              <a:solidFill>
                <a:srgbClr val="0087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A87BD5-FB28-94D3-4834-FAEA29527F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45109" y="1749752"/>
            <a:ext cx="8101781" cy="452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557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6FDE5-1EBB-8C7D-CF82-335470F66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5CD64F-345B-29A4-5042-3DC36D33F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" y="6276502"/>
            <a:ext cx="646232" cy="420660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84BDF9D-D653-8D07-E2AF-9C6174E07FB5}"/>
              </a:ext>
            </a:extLst>
          </p:cNvPr>
          <p:cNvSpPr txBox="1"/>
          <p:nvPr/>
        </p:nvSpPr>
        <p:spPr>
          <a:xfrm>
            <a:off x="5665778" y="636649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2026 - RPS Consulting all rights reserved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F31674B-926F-8B30-7075-4DC3EB89E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984" y="250836"/>
            <a:ext cx="10111153" cy="5907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6603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2970</TotalTime>
  <Words>2053</Words>
  <Application>Microsoft Office PowerPoint</Application>
  <PresentationFormat>Widescreen</PresentationFormat>
  <Paragraphs>292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Aptos Display</vt:lpstr>
      <vt:lpstr>Arial</vt:lpstr>
      <vt:lpstr>HK Grotesk Light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Tilak</dc:creator>
  <cp:lastModifiedBy>mershikajayabal08@gmail.com</cp:lastModifiedBy>
  <cp:revision>19</cp:revision>
  <dcterms:created xsi:type="dcterms:W3CDTF">2024-05-04T13:11:57Z</dcterms:created>
  <dcterms:modified xsi:type="dcterms:W3CDTF">2026-02-12T09:35:01Z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